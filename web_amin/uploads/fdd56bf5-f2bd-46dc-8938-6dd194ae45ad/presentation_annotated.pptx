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7FF64B27_976F6EE5.xml" ContentType="application/vnd.ms-powerpoint.comments+xml"/>
  <Override PartName="/ppt/notesSlides/notesSlide1.xml" ContentType="application/vnd.openxmlformats-officedocument.presentationml.notesSlide+xml"/>
  <Override PartName="/ppt/comments/modernComment_7FFFCD18_B4C2F7F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45" r:id="rId1"/>
  </p:sldMasterIdLst>
  <p:notesMasterIdLst>
    <p:notesMasterId r:id="rId5"/>
  </p:notesMasterIdLst>
  <p:handoutMasterIdLst>
    <p:handoutMasterId r:id="rId6"/>
  </p:handoutMasterIdLst>
  <p:sldIdLst>
    <p:sldId id="2146847527" r:id="rId2"/>
    <p:sldId id="2147470616" r:id="rId3"/>
    <p:sldId id="2147470617" r:id="rId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640" userDrawn="1">
          <p15:clr>
            <a:srgbClr val="A4A3A4"/>
          </p15:clr>
        </p15:guide>
        <p15:guide id="2" pos="3864" userDrawn="1">
          <p15:clr>
            <a:srgbClr val="F26B43"/>
          </p15:clr>
        </p15:guide>
        <p15:guide id="3" orient="horz" pos="1944" userDrawn="1">
          <p15:clr>
            <a:srgbClr val="A4A3A4"/>
          </p15:clr>
        </p15:guide>
        <p15:guide id="5" pos="7032" userDrawn="1">
          <p15:clr>
            <a:srgbClr val="A4A3A4"/>
          </p15:clr>
        </p15:guide>
        <p15:guide id="7" orient="horz" pos="1464" userDrawn="1">
          <p15:clr>
            <a:srgbClr val="A4A3A4"/>
          </p15:clr>
        </p15:guide>
        <p15:guide id="8" pos="7176" userDrawn="1">
          <p15:clr>
            <a:srgbClr val="A4A3A4"/>
          </p15:clr>
        </p15:guide>
        <p15:guide id="10" pos="3816" userDrawn="1">
          <p15:clr>
            <a:srgbClr val="A4A3A4"/>
          </p15:clr>
        </p15:guide>
        <p15:guide id="11" orient="horz" pos="1056" userDrawn="1">
          <p15:clr>
            <a:srgbClr val="C35EA4"/>
          </p15:clr>
        </p15:guide>
        <p15:guide id="12" orient="horz" pos="3744" userDrawn="1">
          <p15:clr>
            <a:srgbClr val="C35EA4"/>
          </p15:clr>
        </p15:guide>
        <p15:guide id="13" orient="horz" pos="2136" userDrawn="1">
          <p15:clr>
            <a:srgbClr val="F26B43"/>
          </p15:clr>
        </p15:guide>
        <p15:guide id="14" orient="horz" pos="2376" userDrawn="1">
          <p15:clr>
            <a:srgbClr val="C35EA4"/>
          </p15:clr>
        </p15:guide>
        <p15:guide id="15" orient="horz" pos="3844" userDrawn="1">
          <p15:clr>
            <a:srgbClr val="547EBF"/>
          </p15:clr>
        </p15:guide>
        <p15:guide id="18" orient="horz" pos="1104" userDrawn="1">
          <p15:clr>
            <a:srgbClr val="5ACBF0"/>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8B57F34-7215-AD59-0798-F5FB5276C08C}" name="NDIAYE Pape" initials="PN" userId="S::pape.ndiaye@oddo-bhf.com::f7a0d858-9711-4bb4-aef8-6e4af069f03c" providerId="AD"/>
  <p188:author id="{8ECEAA51-0B50-6D76-9B4A-81AB382DF12F}" name="OHLMANN Simon" initials="SO" userId="S::simon.ohlmann@oddo-bhf.com::dc5e40a1-c758-4559-ae91-121e07020a59" providerId="AD"/>
  <p188:author id="{D21C39B0-9AD4-997B-9F1D-4F4046F0E53E}" name="HARTEL Florian" initials="HF" userId="S::florian.hartel@oddo-bhf.com::cb1c2344-38e1-4bbf-ae4c-76a2d1147ebe" providerId="AD"/>
  <p188:author id="{28CD8CCA-04C8-D361-6284-FAA2BFA6A2A5}" name="Youssef CHIRCHI" initials="YC" userId="S::youssef.chirchi@esprit.tn::3a57027f-1fe8-4e6f-9a38-c8632b850a1c" providerId="AD"/>
  <p188:author id="{C8BC78EE-9D73-2843-B087-FE885CC6A482}" name="POITEVIN Aubry" initials="AP" userId="S::aubry.poitevin@oddo-bhf.com::24376201-f141-4f86-bd29-752cf15b4a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006666"/>
    <a:srgbClr val="009999"/>
    <a:srgbClr val="F7F2EE"/>
    <a:srgbClr val="55A185"/>
    <a:srgbClr val="EFE5DC"/>
    <a:srgbClr val="A1BF63"/>
    <a:srgbClr val="C3D69B"/>
    <a:srgbClr val="B8CAB4"/>
    <a:srgbClr val="95BC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6357" autoAdjust="0"/>
  </p:normalViewPr>
  <p:slideViewPr>
    <p:cSldViewPr snapToGrid="0" snapToObjects="1">
      <p:cViewPr varScale="1">
        <p:scale>
          <a:sx n="69" d="100"/>
          <a:sy n="69" d="100"/>
        </p:scale>
        <p:origin x="762" y="60"/>
      </p:cViewPr>
      <p:guideLst>
        <p:guide orient="horz" pos="2640"/>
        <p:guide pos="3864"/>
        <p:guide orient="horz" pos="1944"/>
        <p:guide pos="7032"/>
        <p:guide orient="horz" pos="1464"/>
        <p:guide pos="7176"/>
        <p:guide pos="3816"/>
        <p:guide orient="horz" pos="1056"/>
        <p:guide orient="horz" pos="3744"/>
        <p:guide orient="horz" pos="2136"/>
        <p:guide orient="horz" pos="2376"/>
        <p:guide orient="horz" pos="3844"/>
        <p:guide orient="horz" pos="1104"/>
      </p:guideLst>
    </p:cSldViewPr>
  </p:slideViewPr>
  <p:outlineViewPr>
    <p:cViewPr>
      <p:scale>
        <a:sx n="33" d="100"/>
        <a:sy n="33" d="100"/>
      </p:scale>
      <p:origin x="0" y="0"/>
    </p:cViewPr>
  </p:outlineViewPr>
  <p:notesTextViewPr>
    <p:cViewPr>
      <p:scale>
        <a:sx n="1" d="1"/>
        <a:sy n="1" d="1"/>
      </p:scale>
      <p:origin x="0" y="0"/>
    </p:cViewPr>
  </p:notesTextViewPr>
  <p:sorterViewPr>
    <p:cViewPr>
      <p:scale>
        <a:sx n="74" d="100"/>
        <a:sy n="74" d="100"/>
      </p:scale>
      <p:origin x="0" y="0"/>
    </p:cViewPr>
  </p:sorterViewPr>
  <p:notesViewPr>
    <p:cSldViewPr snapToGrid="0" snapToObjects="1">
      <p:cViewPr varScale="1">
        <p:scale>
          <a:sx n="89" d="100"/>
          <a:sy n="89" d="100"/>
        </p:scale>
        <p:origin x="3840" y="1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microsoft.com/office/2018/10/relationships/authors" Target="authors.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omments/modernComment_7FF64B27_976F6EE5.xml><?xml version="1.0" encoding="utf-8"?>
<p188:cmLst xmlns:a="http://schemas.openxmlformats.org/drawingml/2006/main" xmlns:r="http://schemas.openxmlformats.org/officeDocument/2006/relationships" xmlns:p188="http://schemas.microsoft.com/office/powerpoint/2018/8/main">
  <p188:cm id="{3578308B-961A-40B0-958D-864DFD99D583}" authorId="{28CD8CCA-04C8-D361-6284-FAA2BFA6A2A5}" created="2025-12-17T16:08:36.624">
    <pc:sldMkLst xmlns:pc="http://schemas.microsoft.com/office/powerpoint/2013/main/command">
      <pc:docMk/>
      <pc:sldMk cId="2540662501" sldId="2146847527"/>
    </pc:sldMkLst>
    <p188:pos x="635000" y="635000"/>
    <p188:txBody>
      <a:bodyPr/>
      <a:lstStyle/>
      <a:p>
        <a:r>
          <a:rPr lang="en-US"/>
          <a:t>🚨 2.1
Texte concerné:
"Slide 1: Promotional INFORMATION"
Problème:
Le document ne mentionne pas explicitement la nature de document promotionnel et ne précise pas si la cible est retail ou professionnel.
💡 Solution:
Ajouter la mention "document promotionnel" et préciser la cible (retail ou professionnel) sur la page de titre.</a:t>
        </a:r>
      </a:p>
    </p188:txBody>
  </p188:cm>
</p188:cmLst>
</file>

<file path=ppt/comments/modernComment_7FFFCD18_B4C2F7F0.xml><?xml version="1.0" encoding="utf-8"?>
<p188:cmLst xmlns:a="http://schemas.openxmlformats.org/drawingml/2006/main" xmlns:r="http://schemas.openxmlformats.org/officeDocument/2006/relationships" xmlns:p188="http://schemas.microsoft.com/office/powerpoint/2018/8/main">
  <p188:cm id="{04C1E0FA-FDE1-45F9-9CDB-86FEDC75CA36}" authorId="{08B57F34-7215-AD59-0798-F5FB5276C08C}" created="2025-09-11T09:26:49.833">
    <ac:deMkLst xmlns:ac="http://schemas.microsoft.com/office/drawing/2013/main/command">
      <pc:docMk xmlns:pc="http://schemas.microsoft.com/office/powerpoint/2013/main/command"/>
      <pc:sldMk xmlns:pc="http://schemas.microsoft.com/office/powerpoint/2013/main/command" cId="3032676336" sldId="2147470616"/>
      <ac:spMk id="13" creationId="{3B7E6D9C-BD1C-7066-E7B0-6DBC0B385E7C}"/>
    </ac:deMkLst>
    <p188:replyLst>
      <p188:reply id="{906E9941-6D41-4869-93C0-D4941357C5AE}" authorId="{08B57F34-7215-AD59-0798-F5FB5276C08C}" created="2025-09-11T09:29:11.111">
        <p188:txBody>
          <a:bodyPr/>
          <a:lstStyle/>
          <a:p>
            <a:r>
              <a:rPr lang="fr-FR"/>
              <a:t>Please add the list of countries for referencing.</a:t>
            </a:r>
          </a:p>
        </p188:txBody>
      </p188:reply>
      <p188:reply id="{D1C5EB88-CCBC-4BE7-AC5D-8973C5C58119}" authorId="{C8BC78EE-9D73-2843-B087-FE885CC6A482}" created="2025-10-13T14:02:35.839">
        <p188:txBody>
          <a:bodyPr/>
          <a:lstStyle/>
          <a:p>
            <a:r>
              <a:rPr lang="fr-FR"/>
              <a:t>Les pays de commercialisation indiqués doivent être conformes aux dernières données (fichier EXCEL : « registration abroad » disponible : I:\service\DOC LIB\GENERAL\Registration abroad of Funds)</a:t>
            </a:r>
          </a:p>
        </p188:txBody>
      </p188:reply>
    </p188:replyLst>
    <p188:txBody>
      <a:bodyPr/>
      <a:lstStyle/>
      <a:p>
        <a:r>
          <a:rPr lang="fr-FR"/>
          <a:t>I don’t know if the fund is authorized for sale in Switzerland ! If not pls delete this section</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6D9DFE80-FED9-1C43-B5B2-FDD7CBE54AB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72BF0A72-6ACF-7D40-8E02-C637E50BD6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0DF295-9BD9-ED49-B9A6-98DBFCFF745E}" type="datetimeFigureOut">
              <a:rPr lang="fr-FR" smtClean="0"/>
              <a:t>17/12/2025</a:t>
            </a:fld>
            <a:endParaRPr lang="fr-FR"/>
          </a:p>
        </p:txBody>
      </p:sp>
      <p:sp>
        <p:nvSpPr>
          <p:cNvPr id="4" name="Espace réservé du pied de page 3">
            <a:extLst>
              <a:ext uri="{FF2B5EF4-FFF2-40B4-BE49-F238E27FC236}">
                <a16:creationId xmlns:a16="http://schemas.microsoft.com/office/drawing/2014/main" id="{6425F33C-A541-FF45-8ED1-E9CF0DE62C0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479CDC80-B5CD-6A40-87D8-E8A36B052B4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7E77BD-E7EE-CC4D-944B-F265C6906E3D}" type="slidenum">
              <a:rPr lang="fr-FR" smtClean="0"/>
              <a:t>‹#›</a:t>
            </a:fld>
            <a:endParaRPr lang="fr-FR"/>
          </a:p>
        </p:txBody>
      </p:sp>
    </p:spTree>
    <p:extLst>
      <p:ext uri="{BB962C8B-B14F-4D97-AF65-F5344CB8AC3E}">
        <p14:creationId xmlns:p14="http://schemas.microsoft.com/office/powerpoint/2010/main" val="21840301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37D0C7-4B9F-A24A-B59E-850A36F7A44C}" type="datetimeFigureOut">
              <a:rPr lang="fr-FR" smtClean="0"/>
              <a:t>17/12/2025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024CE8-DEF8-B445-873B-DC73493F7299}" type="slidenum">
              <a:rPr lang="fr-FR" smtClean="0"/>
              <a:t>‹#›</a:t>
            </a:fld>
            <a:endParaRPr lang="fr-FR"/>
          </a:p>
        </p:txBody>
      </p:sp>
    </p:spTree>
    <p:extLst>
      <p:ext uri="{BB962C8B-B14F-4D97-AF65-F5344CB8AC3E}">
        <p14:creationId xmlns:p14="http://schemas.microsoft.com/office/powerpoint/2010/main" val="618943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68024CE8-DEF8-B445-873B-DC73493F7299}" type="slidenum">
              <a:rPr lang="fr-FR" smtClean="0"/>
              <a:t>2</a:t>
            </a:fld>
            <a:endParaRPr lang="fr-FR"/>
          </a:p>
        </p:txBody>
      </p:sp>
    </p:spTree>
    <p:extLst>
      <p:ext uri="{BB962C8B-B14F-4D97-AF65-F5344CB8AC3E}">
        <p14:creationId xmlns:p14="http://schemas.microsoft.com/office/powerpoint/2010/main" val="26976454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D0AE37A2-2811-0F4C-A40D-BBEF6155E99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re 1">
            <a:extLst>
              <a:ext uri="{FF2B5EF4-FFF2-40B4-BE49-F238E27FC236}">
                <a16:creationId xmlns:a16="http://schemas.microsoft.com/office/drawing/2014/main" id="{4CC9B5AC-510B-5344-90E7-B2FEFD6BD5A3}"/>
              </a:ext>
            </a:extLst>
          </p:cNvPr>
          <p:cNvSpPr>
            <a:spLocks noGrp="1"/>
          </p:cNvSpPr>
          <p:nvPr>
            <p:ph type="ctrTitle" hasCustomPrompt="1"/>
          </p:nvPr>
        </p:nvSpPr>
        <p:spPr>
          <a:xfrm>
            <a:off x="0" y="3590602"/>
            <a:ext cx="12192000" cy="915497"/>
          </a:xfrm>
          <a:prstGeom prst="rect">
            <a:avLst/>
          </a:prstGeom>
        </p:spPr>
        <p:txBody>
          <a:bodyPr anchor="ctr">
            <a:normAutofit/>
          </a:bodyPr>
          <a:lstStyle>
            <a:lvl1pPr algn="ctr">
              <a:defRPr sz="4000" b="0" i="0" cap="all" baseline="0">
                <a:solidFill>
                  <a:schemeClr val="bg1"/>
                </a:solidFill>
                <a:latin typeface="Lato Light" panose="020F0502020204030203" pitchFamily="34" charset="0"/>
                <a:ea typeface="Lato Light" panose="020F0502020204030203" pitchFamily="34" charset="0"/>
                <a:cs typeface="Lato Light" panose="020F0502020204030203" pitchFamily="34" charset="0"/>
              </a:defRPr>
            </a:lvl1pPr>
          </a:lstStyle>
          <a:p>
            <a:r>
              <a:rPr lang="fr-FR" dirty="0"/>
              <a:t>MODIFIEZ le titre du masque</a:t>
            </a:r>
          </a:p>
        </p:txBody>
      </p:sp>
      <p:sp>
        <p:nvSpPr>
          <p:cNvPr id="3" name="Sous-titre 2">
            <a:extLst>
              <a:ext uri="{FF2B5EF4-FFF2-40B4-BE49-F238E27FC236}">
                <a16:creationId xmlns:a16="http://schemas.microsoft.com/office/drawing/2014/main" id="{4D9051B0-3FA1-2341-855A-9309A9773534}"/>
              </a:ext>
            </a:extLst>
          </p:cNvPr>
          <p:cNvSpPr>
            <a:spLocks noGrp="1"/>
          </p:cNvSpPr>
          <p:nvPr>
            <p:ph type="subTitle" idx="1" hasCustomPrompt="1"/>
          </p:nvPr>
        </p:nvSpPr>
        <p:spPr>
          <a:xfrm>
            <a:off x="0" y="2888559"/>
            <a:ext cx="12192000" cy="915497"/>
          </a:xfrm>
          <a:prstGeom prst="rect">
            <a:avLst/>
          </a:prstGeom>
        </p:spPr>
        <p:txBody>
          <a:bodyPr anchor="ctr">
            <a:noAutofit/>
          </a:bodyPr>
          <a:lstStyle>
            <a:lvl1pPr marL="0" marR="0" indent="0" algn="ctr" defTabSz="914400" rtl="0" eaLnBrk="1" fontAlgn="auto" latinLnBrk="0" hangingPunct="1">
              <a:lnSpc>
                <a:spcPts val="7670"/>
              </a:lnSpc>
              <a:spcBef>
                <a:spcPts val="95"/>
              </a:spcBef>
              <a:spcAft>
                <a:spcPts val="0"/>
              </a:spcAft>
              <a:buClrTx/>
              <a:buSzTx/>
              <a:buFontTx/>
              <a:buNone/>
              <a:tabLst/>
              <a:defRPr kumimoji="0" lang="fr-FR" sz="4000" b="0" i="1" u="none" strike="noStrike" kern="0" cap="none" spc="-5" normalizeH="0" baseline="0">
                <a:ln>
                  <a:noFill/>
                </a:ln>
                <a:solidFill>
                  <a:srgbClr val="FFFFFF"/>
                </a:solidFill>
                <a:effectLst/>
                <a:uLnTx/>
                <a:uFillTx/>
                <a:latin typeface="Libre Baskerville" panose="02000000000000000000" pitchFamily="2" charset="0"/>
                <a:ea typeface="Baskerville" panose="02020502070401020303" pitchFamily="18" charset="0"/>
                <a:cs typeface="Libre Baskerville"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ctr" defTabSz="914400" rtl="0" eaLnBrk="1" fontAlgn="auto" latinLnBrk="0" hangingPunct="1">
              <a:lnSpc>
                <a:spcPts val="7670"/>
              </a:lnSpc>
              <a:spcBef>
                <a:spcPts val="95"/>
              </a:spcBef>
              <a:spcAft>
                <a:spcPts val="0"/>
              </a:spcAft>
              <a:buClrTx/>
              <a:buSzTx/>
              <a:buFontTx/>
              <a:buNone/>
              <a:tabLst/>
              <a:defRPr/>
            </a:pPr>
            <a:r>
              <a:rPr lang="fr-FR" dirty="0"/>
              <a:t>Modifiez le titre du masque</a:t>
            </a:r>
          </a:p>
        </p:txBody>
      </p:sp>
      <p:sp>
        <p:nvSpPr>
          <p:cNvPr id="9" name="Espace réservé du texte 12">
            <a:extLst>
              <a:ext uri="{FF2B5EF4-FFF2-40B4-BE49-F238E27FC236}">
                <a16:creationId xmlns:a16="http://schemas.microsoft.com/office/drawing/2014/main" id="{6CF8409C-797B-FC43-BC67-873CF1931F92}"/>
              </a:ext>
            </a:extLst>
          </p:cNvPr>
          <p:cNvSpPr>
            <a:spLocks noGrp="1"/>
          </p:cNvSpPr>
          <p:nvPr>
            <p:ph type="body" sz="quarter" idx="10" hasCustomPrompt="1"/>
          </p:nvPr>
        </p:nvSpPr>
        <p:spPr>
          <a:xfrm>
            <a:off x="1" y="6261652"/>
            <a:ext cx="12192000" cy="596348"/>
          </a:xfrm>
        </p:spPr>
        <p:txBody>
          <a:bodyPr anchor="ctr">
            <a:normAutofit/>
          </a:bodyPr>
          <a:lstStyle>
            <a:lvl1pPr marL="0" indent="0" algn="ctr">
              <a:buFontTx/>
              <a:buNone/>
              <a:defRPr kumimoji="0" lang="fr-FR" sz="1000" b="0" i="0" u="none" strike="noStrike" kern="1200" cap="all" spc="95" normalizeH="0" baseline="0" dirty="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defRPr>
            </a:lvl1pPr>
          </a:lstStyle>
          <a:p>
            <a:pPr lvl="0"/>
            <a:r>
              <a:rPr lang="fr-FR" dirty="0"/>
              <a:t>Date du document</a:t>
            </a:r>
          </a:p>
        </p:txBody>
      </p:sp>
      <p:pic>
        <p:nvPicPr>
          <p:cNvPr id="11" name="Image 10">
            <a:extLst>
              <a:ext uri="{FF2B5EF4-FFF2-40B4-BE49-F238E27FC236}">
                <a16:creationId xmlns:a16="http://schemas.microsoft.com/office/drawing/2014/main" id="{62FA9F74-82E7-4E16-BA88-9A09F4F9B0F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932913" y="1496226"/>
            <a:ext cx="2329200" cy="1430261"/>
          </a:xfrm>
          <a:prstGeom prst="rect">
            <a:avLst/>
          </a:prstGeom>
        </p:spPr>
      </p:pic>
    </p:spTree>
    <p:extLst>
      <p:ext uri="{BB962C8B-B14F-4D97-AF65-F5344CB8AC3E}">
        <p14:creationId xmlns:p14="http://schemas.microsoft.com/office/powerpoint/2010/main" val="4111958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disclaimer">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363F9EA9-1546-C042-A76D-E2DA7B008934}"/>
              </a:ext>
            </a:extLst>
          </p:cNvPr>
          <p:cNvSpPr>
            <a:spLocks noGrp="1"/>
          </p:cNvSpPr>
          <p:nvPr>
            <p:ph type="sldNum" sz="quarter" idx="12"/>
          </p:nvPr>
        </p:nvSpPr>
        <p:spPr/>
        <p:txBody>
          <a:bodyPr/>
          <a:lstStyle/>
          <a:p>
            <a:fld id="{334D4FF5-5FCB-2945-841A-A3CAF61B538E}" type="slidenum">
              <a:rPr lang="fr-FR" smtClean="0"/>
              <a:t>‹#›</a:t>
            </a:fld>
            <a:endParaRPr lang="fr-FR" dirty="0"/>
          </a:p>
        </p:txBody>
      </p:sp>
      <p:sp>
        <p:nvSpPr>
          <p:cNvPr id="2" name="Titre 1">
            <a:extLst>
              <a:ext uri="{FF2B5EF4-FFF2-40B4-BE49-F238E27FC236}">
                <a16:creationId xmlns:a16="http://schemas.microsoft.com/office/drawing/2014/main" id="{BE0F9199-2A2D-FA44-997E-8AE709E5075D}"/>
              </a:ext>
            </a:extLst>
          </p:cNvPr>
          <p:cNvSpPr>
            <a:spLocks noGrp="1"/>
          </p:cNvSpPr>
          <p:nvPr>
            <p:ph type="title"/>
          </p:nvPr>
        </p:nvSpPr>
        <p:spPr/>
        <p:txBody>
          <a:bodyPr/>
          <a:lstStyle/>
          <a:p>
            <a:r>
              <a:rPr lang="fr-FR"/>
              <a:t>Modifiez le style du titre</a:t>
            </a:r>
          </a:p>
        </p:txBody>
      </p:sp>
      <p:sp>
        <p:nvSpPr>
          <p:cNvPr id="4" name="Espace réservé du pied de page 3">
            <a:extLst>
              <a:ext uri="{FF2B5EF4-FFF2-40B4-BE49-F238E27FC236}">
                <a16:creationId xmlns:a16="http://schemas.microsoft.com/office/drawing/2014/main" id="{8D75C32F-9AA9-9D4D-B6AA-88F1A9203CAA}"/>
              </a:ext>
            </a:extLst>
          </p:cNvPr>
          <p:cNvSpPr>
            <a:spLocks noGrp="1"/>
          </p:cNvSpPr>
          <p:nvPr>
            <p:ph type="ftr" sz="quarter" idx="11"/>
          </p:nvPr>
        </p:nvSpPr>
        <p:spPr>
          <a:xfrm>
            <a:off x="5621995" y="6444468"/>
            <a:ext cx="5582407" cy="155812"/>
          </a:xfrm>
          <a:prstGeom prst="rect">
            <a:avLst/>
          </a:prstGeom>
        </p:spPr>
        <p:txBody>
          <a:bodyPr/>
          <a:lstStyle>
            <a:lvl1pPr>
              <a:defRPr>
                <a:solidFill>
                  <a:schemeClr val="tx1"/>
                </a:solidFill>
              </a:defRPr>
            </a:lvl1pPr>
          </a:lstStyle>
          <a:p>
            <a:r>
              <a:rPr lang="fr-FR"/>
              <a:t>TITLE OF THE PRESENTATION</a:t>
            </a:r>
            <a:endParaRPr lang="fr-FR" dirty="0"/>
          </a:p>
        </p:txBody>
      </p:sp>
      <p:sp>
        <p:nvSpPr>
          <p:cNvPr id="33" name="object 7">
            <a:extLst>
              <a:ext uri="{FF2B5EF4-FFF2-40B4-BE49-F238E27FC236}">
                <a16:creationId xmlns:a16="http://schemas.microsoft.com/office/drawing/2014/main" id="{CFCB5185-3C9F-1141-AC80-AF9D43415CFB}"/>
              </a:ext>
            </a:extLst>
          </p:cNvPr>
          <p:cNvSpPr>
            <a:spLocks noChangeAspect="1"/>
          </p:cNvSpPr>
          <p:nvPr userDrawn="1"/>
        </p:nvSpPr>
        <p:spPr>
          <a:xfrm>
            <a:off x="11408107" y="293136"/>
            <a:ext cx="174248" cy="180000"/>
          </a:xfrm>
          <a:custGeom>
            <a:avLst/>
            <a:gdLst/>
            <a:ahLst/>
            <a:cxnLst/>
            <a:rect l="l" t="t" r="r" b="b"/>
            <a:pathLst>
              <a:path w="981075" h="1013460">
                <a:moveTo>
                  <a:pt x="548792" y="741299"/>
                </a:moveTo>
                <a:lnTo>
                  <a:pt x="545846" y="694016"/>
                </a:lnTo>
                <a:lnTo>
                  <a:pt x="537235" y="648474"/>
                </a:lnTo>
                <a:lnTo>
                  <a:pt x="523341" y="605015"/>
                </a:lnTo>
                <a:lnTo>
                  <a:pt x="504494" y="564007"/>
                </a:lnTo>
                <a:lnTo>
                  <a:pt x="481076" y="525805"/>
                </a:lnTo>
                <a:lnTo>
                  <a:pt x="453415" y="490753"/>
                </a:lnTo>
                <a:lnTo>
                  <a:pt x="421894" y="459219"/>
                </a:lnTo>
                <a:lnTo>
                  <a:pt x="386842" y="431571"/>
                </a:lnTo>
                <a:lnTo>
                  <a:pt x="348640" y="408139"/>
                </a:lnTo>
                <a:lnTo>
                  <a:pt x="307632" y="389293"/>
                </a:lnTo>
                <a:lnTo>
                  <a:pt x="264185" y="375399"/>
                </a:lnTo>
                <a:lnTo>
                  <a:pt x="218643" y="366788"/>
                </a:lnTo>
                <a:lnTo>
                  <a:pt x="171361" y="363842"/>
                </a:lnTo>
                <a:lnTo>
                  <a:pt x="125882" y="366585"/>
                </a:lnTo>
                <a:lnTo>
                  <a:pt x="82003" y="374586"/>
                </a:lnTo>
                <a:lnTo>
                  <a:pt x="40030" y="387502"/>
                </a:lnTo>
                <a:lnTo>
                  <a:pt x="292" y="405015"/>
                </a:lnTo>
                <a:lnTo>
                  <a:pt x="4381" y="462305"/>
                </a:lnTo>
                <a:lnTo>
                  <a:pt x="14389" y="517486"/>
                </a:lnTo>
                <a:lnTo>
                  <a:pt x="29692" y="570484"/>
                </a:lnTo>
                <a:lnTo>
                  <a:pt x="49695" y="621182"/>
                </a:lnTo>
                <a:lnTo>
                  <a:pt x="73774" y="669480"/>
                </a:lnTo>
                <a:lnTo>
                  <a:pt x="101307" y="715276"/>
                </a:lnTo>
                <a:lnTo>
                  <a:pt x="131711" y="758469"/>
                </a:lnTo>
                <a:lnTo>
                  <a:pt x="164350" y="798957"/>
                </a:lnTo>
                <a:lnTo>
                  <a:pt x="198628" y="836637"/>
                </a:lnTo>
                <a:lnTo>
                  <a:pt x="233921" y="871410"/>
                </a:lnTo>
                <a:lnTo>
                  <a:pt x="269608" y="903160"/>
                </a:lnTo>
                <a:lnTo>
                  <a:pt x="305104" y="931811"/>
                </a:lnTo>
                <a:lnTo>
                  <a:pt x="339788" y="957224"/>
                </a:lnTo>
                <a:lnTo>
                  <a:pt x="373037" y="979335"/>
                </a:lnTo>
                <a:lnTo>
                  <a:pt x="432790" y="1013180"/>
                </a:lnTo>
                <a:lnTo>
                  <a:pt x="466178" y="976591"/>
                </a:lnTo>
                <a:lnTo>
                  <a:pt x="494601" y="935863"/>
                </a:lnTo>
                <a:lnTo>
                  <a:pt x="517563" y="891476"/>
                </a:lnTo>
                <a:lnTo>
                  <a:pt x="534581" y="843940"/>
                </a:lnTo>
                <a:lnTo>
                  <a:pt x="545147" y="793711"/>
                </a:lnTo>
                <a:lnTo>
                  <a:pt x="548792" y="741299"/>
                </a:lnTo>
                <a:close/>
              </a:path>
              <a:path w="981075" h="1013460">
                <a:moveTo>
                  <a:pt x="936028" y="611339"/>
                </a:moveTo>
                <a:lnTo>
                  <a:pt x="926325" y="563473"/>
                </a:lnTo>
                <a:lnTo>
                  <a:pt x="913726" y="516724"/>
                </a:lnTo>
                <a:lnTo>
                  <a:pt x="898347" y="471182"/>
                </a:lnTo>
                <a:lnTo>
                  <a:pt x="880262" y="426935"/>
                </a:lnTo>
                <a:lnTo>
                  <a:pt x="859574" y="384098"/>
                </a:lnTo>
                <a:lnTo>
                  <a:pt x="836396" y="342760"/>
                </a:lnTo>
                <a:lnTo>
                  <a:pt x="810818" y="303022"/>
                </a:lnTo>
                <a:lnTo>
                  <a:pt x="782929" y="264985"/>
                </a:lnTo>
                <a:lnTo>
                  <a:pt x="752843" y="228752"/>
                </a:lnTo>
                <a:lnTo>
                  <a:pt x="720661" y="194411"/>
                </a:lnTo>
                <a:lnTo>
                  <a:pt x="686473" y="162077"/>
                </a:lnTo>
                <a:lnTo>
                  <a:pt x="650367" y="131838"/>
                </a:lnTo>
                <a:lnTo>
                  <a:pt x="612457" y="103797"/>
                </a:lnTo>
                <a:lnTo>
                  <a:pt x="572846" y="78054"/>
                </a:lnTo>
                <a:lnTo>
                  <a:pt x="531622" y="54698"/>
                </a:lnTo>
                <a:lnTo>
                  <a:pt x="488886" y="33845"/>
                </a:lnTo>
                <a:lnTo>
                  <a:pt x="444728" y="15570"/>
                </a:lnTo>
                <a:lnTo>
                  <a:pt x="399262" y="0"/>
                </a:lnTo>
                <a:lnTo>
                  <a:pt x="0" y="0"/>
                </a:lnTo>
                <a:lnTo>
                  <a:pt x="0" y="290944"/>
                </a:lnTo>
                <a:lnTo>
                  <a:pt x="40779" y="277431"/>
                </a:lnTo>
                <a:lnTo>
                  <a:pt x="83045" y="267525"/>
                </a:lnTo>
                <a:lnTo>
                  <a:pt x="126631" y="261429"/>
                </a:lnTo>
                <a:lnTo>
                  <a:pt x="171373" y="259359"/>
                </a:lnTo>
                <a:lnTo>
                  <a:pt x="220573" y="261848"/>
                </a:lnTo>
                <a:lnTo>
                  <a:pt x="268363" y="269163"/>
                </a:lnTo>
                <a:lnTo>
                  <a:pt x="314515" y="281063"/>
                </a:lnTo>
                <a:lnTo>
                  <a:pt x="358762" y="297294"/>
                </a:lnTo>
                <a:lnTo>
                  <a:pt x="400875" y="317614"/>
                </a:lnTo>
                <a:lnTo>
                  <a:pt x="440613" y="341782"/>
                </a:lnTo>
                <a:lnTo>
                  <a:pt x="477710" y="369544"/>
                </a:lnTo>
                <a:lnTo>
                  <a:pt x="511949" y="400672"/>
                </a:lnTo>
                <a:lnTo>
                  <a:pt x="543077" y="434911"/>
                </a:lnTo>
                <a:lnTo>
                  <a:pt x="570839" y="472020"/>
                </a:lnTo>
                <a:lnTo>
                  <a:pt x="595007" y="511759"/>
                </a:lnTo>
                <a:lnTo>
                  <a:pt x="615327" y="553885"/>
                </a:lnTo>
                <a:lnTo>
                  <a:pt x="631545" y="598144"/>
                </a:lnTo>
                <a:lnTo>
                  <a:pt x="643445" y="644296"/>
                </a:lnTo>
                <a:lnTo>
                  <a:pt x="650760" y="692099"/>
                </a:lnTo>
                <a:lnTo>
                  <a:pt x="653249" y="741299"/>
                </a:lnTo>
                <a:lnTo>
                  <a:pt x="650113" y="796417"/>
                </a:lnTo>
                <a:lnTo>
                  <a:pt x="640930" y="849731"/>
                </a:lnTo>
                <a:lnTo>
                  <a:pt x="626046" y="900874"/>
                </a:lnTo>
                <a:lnTo>
                  <a:pt x="605840" y="949540"/>
                </a:lnTo>
                <a:lnTo>
                  <a:pt x="580631" y="995362"/>
                </a:lnTo>
                <a:lnTo>
                  <a:pt x="615454" y="974102"/>
                </a:lnTo>
                <a:lnTo>
                  <a:pt x="652665" y="948740"/>
                </a:lnTo>
                <a:lnTo>
                  <a:pt x="691413" y="919391"/>
                </a:lnTo>
                <a:lnTo>
                  <a:pt x="730872" y="886180"/>
                </a:lnTo>
                <a:lnTo>
                  <a:pt x="770229" y="849210"/>
                </a:lnTo>
                <a:lnTo>
                  <a:pt x="808621" y="808609"/>
                </a:lnTo>
                <a:lnTo>
                  <a:pt x="838174" y="773442"/>
                </a:lnTo>
                <a:lnTo>
                  <a:pt x="866127" y="736053"/>
                </a:lnTo>
                <a:lnTo>
                  <a:pt x="892022" y="696531"/>
                </a:lnTo>
                <a:lnTo>
                  <a:pt x="915466" y="654939"/>
                </a:lnTo>
                <a:lnTo>
                  <a:pt x="936028" y="611339"/>
                </a:lnTo>
                <a:close/>
              </a:path>
              <a:path w="981075" h="1013460">
                <a:moveTo>
                  <a:pt x="981075" y="12"/>
                </a:moveTo>
                <a:lnTo>
                  <a:pt x="645198" y="12"/>
                </a:lnTo>
                <a:lnTo>
                  <a:pt x="684822" y="26962"/>
                </a:lnTo>
                <a:lnTo>
                  <a:pt x="722871" y="55968"/>
                </a:lnTo>
                <a:lnTo>
                  <a:pt x="759256" y="86956"/>
                </a:lnTo>
                <a:lnTo>
                  <a:pt x="793915" y="119849"/>
                </a:lnTo>
                <a:lnTo>
                  <a:pt x="826744" y="154546"/>
                </a:lnTo>
                <a:lnTo>
                  <a:pt x="857681" y="190982"/>
                </a:lnTo>
                <a:lnTo>
                  <a:pt x="886650" y="229082"/>
                </a:lnTo>
                <a:lnTo>
                  <a:pt x="913549" y="268744"/>
                </a:lnTo>
                <a:lnTo>
                  <a:pt x="938301" y="309905"/>
                </a:lnTo>
                <a:lnTo>
                  <a:pt x="960843" y="352475"/>
                </a:lnTo>
                <a:lnTo>
                  <a:pt x="981075" y="396392"/>
                </a:lnTo>
                <a:lnTo>
                  <a:pt x="981075" y="12"/>
                </a:lnTo>
                <a:close/>
              </a:path>
            </a:pathLst>
          </a:custGeom>
          <a:solidFill>
            <a:srgbClr val="EA4334"/>
          </a:solidFill>
        </p:spPr>
        <p:txBody>
          <a:bodyPr wrap="square" lIns="0" tIns="0" rIns="0" bIns="0" rtlCol="0"/>
          <a:lstStyle/>
          <a:p>
            <a:endParaRPr/>
          </a:p>
        </p:txBody>
      </p:sp>
      <p:sp>
        <p:nvSpPr>
          <p:cNvPr id="31" name="object 7">
            <a:extLst>
              <a:ext uri="{FF2B5EF4-FFF2-40B4-BE49-F238E27FC236}">
                <a16:creationId xmlns:a16="http://schemas.microsoft.com/office/drawing/2014/main" id="{A41BEBF1-F6E4-684B-B49C-CF934ED40DF6}"/>
              </a:ext>
            </a:extLst>
          </p:cNvPr>
          <p:cNvSpPr>
            <a:spLocks noChangeAspect="1"/>
          </p:cNvSpPr>
          <p:nvPr userDrawn="1"/>
        </p:nvSpPr>
        <p:spPr>
          <a:xfrm>
            <a:off x="11408107" y="293136"/>
            <a:ext cx="174248" cy="180000"/>
          </a:xfrm>
          <a:custGeom>
            <a:avLst/>
            <a:gdLst/>
            <a:ahLst/>
            <a:cxnLst/>
            <a:rect l="l" t="t" r="r" b="b"/>
            <a:pathLst>
              <a:path w="981075" h="1013460">
                <a:moveTo>
                  <a:pt x="548792" y="741299"/>
                </a:moveTo>
                <a:lnTo>
                  <a:pt x="545846" y="694016"/>
                </a:lnTo>
                <a:lnTo>
                  <a:pt x="537235" y="648474"/>
                </a:lnTo>
                <a:lnTo>
                  <a:pt x="523341" y="605015"/>
                </a:lnTo>
                <a:lnTo>
                  <a:pt x="504494" y="564007"/>
                </a:lnTo>
                <a:lnTo>
                  <a:pt x="481076" y="525805"/>
                </a:lnTo>
                <a:lnTo>
                  <a:pt x="453415" y="490753"/>
                </a:lnTo>
                <a:lnTo>
                  <a:pt x="421894" y="459219"/>
                </a:lnTo>
                <a:lnTo>
                  <a:pt x="386842" y="431571"/>
                </a:lnTo>
                <a:lnTo>
                  <a:pt x="348640" y="408139"/>
                </a:lnTo>
                <a:lnTo>
                  <a:pt x="307632" y="389293"/>
                </a:lnTo>
                <a:lnTo>
                  <a:pt x="264185" y="375399"/>
                </a:lnTo>
                <a:lnTo>
                  <a:pt x="218643" y="366788"/>
                </a:lnTo>
                <a:lnTo>
                  <a:pt x="171361" y="363842"/>
                </a:lnTo>
                <a:lnTo>
                  <a:pt x="125882" y="366585"/>
                </a:lnTo>
                <a:lnTo>
                  <a:pt x="82003" y="374586"/>
                </a:lnTo>
                <a:lnTo>
                  <a:pt x="40030" y="387502"/>
                </a:lnTo>
                <a:lnTo>
                  <a:pt x="292" y="405015"/>
                </a:lnTo>
                <a:lnTo>
                  <a:pt x="4381" y="462305"/>
                </a:lnTo>
                <a:lnTo>
                  <a:pt x="14389" y="517486"/>
                </a:lnTo>
                <a:lnTo>
                  <a:pt x="29692" y="570484"/>
                </a:lnTo>
                <a:lnTo>
                  <a:pt x="49695" y="621182"/>
                </a:lnTo>
                <a:lnTo>
                  <a:pt x="73774" y="669480"/>
                </a:lnTo>
                <a:lnTo>
                  <a:pt x="101307" y="715276"/>
                </a:lnTo>
                <a:lnTo>
                  <a:pt x="131711" y="758469"/>
                </a:lnTo>
                <a:lnTo>
                  <a:pt x="164350" y="798957"/>
                </a:lnTo>
                <a:lnTo>
                  <a:pt x="198628" y="836637"/>
                </a:lnTo>
                <a:lnTo>
                  <a:pt x="233921" y="871410"/>
                </a:lnTo>
                <a:lnTo>
                  <a:pt x="269608" y="903160"/>
                </a:lnTo>
                <a:lnTo>
                  <a:pt x="305104" y="931811"/>
                </a:lnTo>
                <a:lnTo>
                  <a:pt x="339788" y="957224"/>
                </a:lnTo>
                <a:lnTo>
                  <a:pt x="373037" y="979335"/>
                </a:lnTo>
                <a:lnTo>
                  <a:pt x="432790" y="1013180"/>
                </a:lnTo>
                <a:lnTo>
                  <a:pt x="466178" y="976591"/>
                </a:lnTo>
                <a:lnTo>
                  <a:pt x="494601" y="935863"/>
                </a:lnTo>
                <a:lnTo>
                  <a:pt x="517563" y="891476"/>
                </a:lnTo>
                <a:lnTo>
                  <a:pt x="534581" y="843940"/>
                </a:lnTo>
                <a:lnTo>
                  <a:pt x="545147" y="793711"/>
                </a:lnTo>
                <a:lnTo>
                  <a:pt x="548792" y="741299"/>
                </a:lnTo>
                <a:close/>
              </a:path>
              <a:path w="981075" h="1013460">
                <a:moveTo>
                  <a:pt x="936028" y="611339"/>
                </a:moveTo>
                <a:lnTo>
                  <a:pt x="926325" y="563473"/>
                </a:lnTo>
                <a:lnTo>
                  <a:pt x="913726" y="516724"/>
                </a:lnTo>
                <a:lnTo>
                  <a:pt x="898347" y="471182"/>
                </a:lnTo>
                <a:lnTo>
                  <a:pt x="880262" y="426935"/>
                </a:lnTo>
                <a:lnTo>
                  <a:pt x="859574" y="384098"/>
                </a:lnTo>
                <a:lnTo>
                  <a:pt x="836396" y="342760"/>
                </a:lnTo>
                <a:lnTo>
                  <a:pt x="810818" y="303022"/>
                </a:lnTo>
                <a:lnTo>
                  <a:pt x="782929" y="264985"/>
                </a:lnTo>
                <a:lnTo>
                  <a:pt x="752843" y="228752"/>
                </a:lnTo>
                <a:lnTo>
                  <a:pt x="720661" y="194411"/>
                </a:lnTo>
                <a:lnTo>
                  <a:pt x="686473" y="162077"/>
                </a:lnTo>
                <a:lnTo>
                  <a:pt x="650367" y="131838"/>
                </a:lnTo>
                <a:lnTo>
                  <a:pt x="612457" y="103797"/>
                </a:lnTo>
                <a:lnTo>
                  <a:pt x="572846" y="78054"/>
                </a:lnTo>
                <a:lnTo>
                  <a:pt x="531622" y="54698"/>
                </a:lnTo>
                <a:lnTo>
                  <a:pt x="488886" y="33845"/>
                </a:lnTo>
                <a:lnTo>
                  <a:pt x="444728" y="15570"/>
                </a:lnTo>
                <a:lnTo>
                  <a:pt x="399262" y="0"/>
                </a:lnTo>
                <a:lnTo>
                  <a:pt x="0" y="0"/>
                </a:lnTo>
                <a:lnTo>
                  <a:pt x="0" y="290944"/>
                </a:lnTo>
                <a:lnTo>
                  <a:pt x="40779" y="277431"/>
                </a:lnTo>
                <a:lnTo>
                  <a:pt x="83045" y="267525"/>
                </a:lnTo>
                <a:lnTo>
                  <a:pt x="126631" y="261429"/>
                </a:lnTo>
                <a:lnTo>
                  <a:pt x="171373" y="259359"/>
                </a:lnTo>
                <a:lnTo>
                  <a:pt x="220573" y="261848"/>
                </a:lnTo>
                <a:lnTo>
                  <a:pt x="268363" y="269163"/>
                </a:lnTo>
                <a:lnTo>
                  <a:pt x="314515" y="281063"/>
                </a:lnTo>
                <a:lnTo>
                  <a:pt x="358762" y="297294"/>
                </a:lnTo>
                <a:lnTo>
                  <a:pt x="400875" y="317614"/>
                </a:lnTo>
                <a:lnTo>
                  <a:pt x="440613" y="341782"/>
                </a:lnTo>
                <a:lnTo>
                  <a:pt x="477710" y="369544"/>
                </a:lnTo>
                <a:lnTo>
                  <a:pt x="511949" y="400672"/>
                </a:lnTo>
                <a:lnTo>
                  <a:pt x="543077" y="434911"/>
                </a:lnTo>
                <a:lnTo>
                  <a:pt x="570839" y="472020"/>
                </a:lnTo>
                <a:lnTo>
                  <a:pt x="595007" y="511759"/>
                </a:lnTo>
                <a:lnTo>
                  <a:pt x="615327" y="553885"/>
                </a:lnTo>
                <a:lnTo>
                  <a:pt x="631545" y="598144"/>
                </a:lnTo>
                <a:lnTo>
                  <a:pt x="643445" y="644296"/>
                </a:lnTo>
                <a:lnTo>
                  <a:pt x="650760" y="692099"/>
                </a:lnTo>
                <a:lnTo>
                  <a:pt x="653249" y="741299"/>
                </a:lnTo>
                <a:lnTo>
                  <a:pt x="650113" y="796417"/>
                </a:lnTo>
                <a:lnTo>
                  <a:pt x="640930" y="849731"/>
                </a:lnTo>
                <a:lnTo>
                  <a:pt x="626046" y="900874"/>
                </a:lnTo>
                <a:lnTo>
                  <a:pt x="605840" y="949540"/>
                </a:lnTo>
                <a:lnTo>
                  <a:pt x="580631" y="995362"/>
                </a:lnTo>
                <a:lnTo>
                  <a:pt x="615454" y="974102"/>
                </a:lnTo>
                <a:lnTo>
                  <a:pt x="652665" y="948740"/>
                </a:lnTo>
                <a:lnTo>
                  <a:pt x="691413" y="919391"/>
                </a:lnTo>
                <a:lnTo>
                  <a:pt x="730872" y="886180"/>
                </a:lnTo>
                <a:lnTo>
                  <a:pt x="770229" y="849210"/>
                </a:lnTo>
                <a:lnTo>
                  <a:pt x="808621" y="808609"/>
                </a:lnTo>
                <a:lnTo>
                  <a:pt x="838174" y="773442"/>
                </a:lnTo>
                <a:lnTo>
                  <a:pt x="866127" y="736053"/>
                </a:lnTo>
                <a:lnTo>
                  <a:pt x="892022" y="696531"/>
                </a:lnTo>
                <a:lnTo>
                  <a:pt x="915466" y="654939"/>
                </a:lnTo>
                <a:lnTo>
                  <a:pt x="936028" y="611339"/>
                </a:lnTo>
                <a:close/>
              </a:path>
              <a:path w="981075" h="1013460">
                <a:moveTo>
                  <a:pt x="981075" y="12"/>
                </a:moveTo>
                <a:lnTo>
                  <a:pt x="645198" y="12"/>
                </a:lnTo>
                <a:lnTo>
                  <a:pt x="684822" y="26962"/>
                </a:lnTo>
                <a:lnTo>
                  <a:pt x="722871" y="55968"/>
                </a:lnTo>
                <a:lnTo>
                  <a:pt x="759256" y="86956"/>
                </a:lnTo>
                <a:lnTo>
                  <a:pt x="793915" y="119849"/>
                </a:lnTo>
                <a:lnTo>
                  <a:pt x="826744" y="154546"/>
                </a:lnTo>
                <a:lnTo>
                  <a:pt x="857681" y="190982"/>
                </a:lnTo>
                <a:lnTo>
                  <a:pt x="886650" y="229082"/>
                </a:lnTo>
                <a:lnTo>
                  <a:pt x="913549" y="268744"/>
                </a:lnTo>
                <a:lnTo>
                  <a:pt x="938301" y="309905"/>
                </a:lnTo>
                <a:lnTo>
                  <a:pt x="960843" y="352475"/>
                </a:lnTo>
                <a:lnTo>
                  <a:pt x="981075" y="396392"/>
                </a:lnTo>
                <a:lnTo>
                  <a:pt x="981075" y="12"/>
                </a:lnTo>
                <a:close/>
              </a:path>
            </a:pathLst>
          </a:custGeom>
          <a:solidFill>
            <a:srgbClr val="EA4334"/>
          </a:solidFill>
        </p:spPr>
        <p:txBody>
          <a:bodyPr wrap="square" lIns="0" tIns="0" rIns="0" bIns="0" rtlCol="0"/>
          <a:lstStyle/>
          <a:p>
            <a:endParaRPr/>
          </a:p>
        </p:txBody>
      </p:sp>
      <p:sp>
        <p:nvSpPr>
          <p:cNvPr id="13" name="Espace réservé du texte 9">
            <a:extLst>
              <a:ext uri="{FF2B5EF4-FFF2-40B4-BE49-F238E27FC236}">
                <a16:creationId xmlns:a16="http://schemas.microsoft.com/office/drawing/2014/main" id="{7451B0C5-FEDB-3747-A4DF-6976467D4AD8}"/>
              </a:ext>
            </a:extLst>
          </p:cNvPr>
          <p:cNvSpPr>
            <a:spLocks noGrp="1"/>
          </p:cNvSpPr>
          <p:nvPr>
            <p:ph type="body" sz="quarter" idx="16"/>
          </p:nvPr>
        </p:nvSpPr>
        <p:spPr>
          <a:xfrm>
            <a:off x="500787" y="1565329"/>
            <a:ext cx="5341213" cy="4786098"/>
          </a:xfrm>
          <a:prstGeom prst="rect">
            <a:avLst/>
          </a:prstGeom>
        </p:spPr>
        <p:txBody>
          <a:bodyPr>
            <a:normAutofit/>
          </a:bodyPr>
          <a:lstStyle>
            <a:lvl1pPr marL="0" indent="0" algn="just">
              <a:lnSpc>
                <a:spcPct val="100000"/>
              </a:lnSpc>
              <a:buFontTx/>
              <a:buNone/>
              <a:defRPr sz="1050" b="0" i="0">
                <a:latin typeface="Lato Light" panose="020F0502020204030203" pitchFamily="34" charset="0"/>
                <a:ea typeface="Lato Light" panose="020F0502020204030203" pitchFamily="34" charset="0"/>
                <a:cs typeface="Lato Light" panose="020F050202020403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dirty="0"/>
              <a:t>Cliquez pour modifier les styles du texte du masque</a:t>
            </a:r>
          </a:p>
        </p:txBody>
      </p:sp>
      <p:sp>
        <p:nvSpPr>
          <p:cNvPr id="14" name="Espace réservé du texte 9">
            <a:extLst>
              <a:ext uri="{FF2B5EF4-FFF2-40B4-BE49-F238E27FC236}">
                <a16:creationId xmlns:a16="http://schemas.microsoft.com/office/drawing/2014/main" id="{D31E277C-FDB6-624E-A61C-27E5C4A4E1F8}"/>
              </a:ext>
            </a:extLst>
          </p:cNvPr>
          <p:cNvSpPr>
            <a:spLocks noGrp="1"/>
          </p:cNvSpPr>
          <p:nvPr>
            <p:ph type="body" sz="quarter" idx="17"/>
          </p:nvPr>
        </p:nvSpPr>
        <p:spPr>
          <a:xfrm>
            <a:off x="6188965" y="1565329"/>
            <a:ext cx="5520436" cy="4786098"/>
          </a:xfrm>
          <a:prstGeom prst="rect">
            <a:avLst/>
          </a:prstGeom>
        </p:spPr>
        <p:txBody>
          <a:bodyPr>
            <a:normAutofit/>
          </a:bodyPr>
          <a:lstStyle>
            <a:lvl1pPr marL="0" indent="0" algn="just">
              <a:lnSpc>
                <a:spcPct val="100000"/>
              </a:lnSpc>
              <a:buFontTx/>
              <a:buNone/>
              <a:defRPr sz="1050" b="0" i="0">
                <a:latin typeface="Lato Light" panose="020F0502020204030203" pitchFamily="34" charset="0"/>
                <a:ea typeface="Lato Light" panose="020F0502020204030203" pitchFamily="34" charset="0"/>
                <a:cs typeface="Lato Light" panose="020F050202020403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dirty="0"/>
              <a:t>Cliquez pour modifier les styles du texte du masque</a:t>
            </a:r>
          </a:p>
        </p:txBody>
      </p:sp>
      <p:sp>
        <p:nvSpPr>
          <p:cNvPr id="3" name="Espace réservé du texte 5">
            <a:extLst>
              <a:ext uri="{FF2B5EF4-FFF2-40B4-BE49-F238E27FC236}">
                <a16:creationId xmlns:a16="http://schemas.microsoft.com/office/drawing/2014/main" id="{33B65724-E786-5758-6592-373989CD5B85}"/>
              </a:ext>
            </a:extLst>
          </p:cNvPr>
          <p:cNvSpPr>
            <a:spLocks noGrp="1"/>
          </p:cNvSpPr>
          <p:nvPr>
            <p:ph type="body" sz="quarter" idx="24" hasCustomPrompt="1"/>
          </p:nvPr>
        </p:nvSpPr>
        <p:spPr>
          <a:xfrm>
            <a:off x="613646" y="6439982"/>
            <a:ext cx="7393763" cy="365126"/>
          </a:xfrm>
        </p:spPr>
        <p:txBody>
          <a:bodyPr lIns="0" tIns="0" rIns="0" bIns="0" anchor="t">
            <a:noAutofit/>
          </a:bodyPr>
          <a:lstStyle>
            <a:lvl1pPr marL="0" indent="0">
              <a:buFontTx/>
              <a:buNone/>
              <a:defRPr lang="fr-FR" sz="800" b="0" kern="1200" cap="none"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1pPr>
            <a:lvl2pPr marL="4572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2pPr>
            <a:lvl3pPr marL="9144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3pPr>
            <a:lvl4pPr marL="13716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4pPr>
            <a:lvl5pPr marL="1828800" indent="0">
              <a:buFontTx/>
              <a:buNone/>
              <a:defRPr lang="fr-FR" sz="800" b="0" kern="1200" baseline="0" dirty="0">
                <a:solidFill>
                  <a:srgbClr val="272529"/>
                </a:solidFill>
                <a:latin typeface="Lato" panose="020F0502020204030203" pitchFamily="34" charset="0"/>
                <a:ea typeface="Lato" panose="020F0502020204030203" pitchFamily="34" charset="0"/>
                <a:cs typeface="Lato" panose="020F0502020204030203" pitchFamily="34" charset="0"/>
              </a:defRPr>
            </a:lvl5pPr>
          </a:lstStyle>
          <a:p>
            <a:pPr lvl="0"/>
            <a:r>
              <a:rPr lang="fr-FR" dirty="0"/>
              <a:t>Source :</a:t>
            </a:r>
          </a:p>
        </p:txBody>
      </p:sp>
    </p:spTree>
    <p:extLst>
      <p:ext uri="{BB962C8B-B14F-4D97-AF65-F5344CB8AC3E}">
        <p14:creationId xmlns:p14="http://schemas.microsoft.com/office/powerpoint/2010/main" val="27476410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re seul +fond trame droite">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92ABA2DD-5E7F-3F41-A851-532B5D4A1E6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Espace réservé du texte 7">
            <a:extLst>
              <a:ext uri="{FF2B5EF4-FFF2-40B4-BE49-F238E27FC236}">
                <a16:creationId xmlns:a16="http://schemas.microsoft.com/office/drawing/2014/main" id="{0AB575C4-54D3-1D47-8E37-15E11ED09EFE}"/>
              </a:ext>
            </a:extLst>
          </p:cNvPr>
          <p:cNvSpPr>
            <a:spLocks noGrp="1"/>
          </p:cNvSpPr>
          <p:nvPr>
            <p:ph type="body" sz="quarter" idx="13"/>
          </p:nvPr>
        </p:nvSpPr>
        <p:spPr>
          <a:xfrm>
            <a:off x="487623" y="473136"/>
            <a:ext cx="11723231" cy="767187"/>
          </a:xfrm>
          <a:prstGeom prst="rect">
            <a:avLst/>
          </a:prstGeom>
        </p:spPr>
        <p:txBody>
          <a:bodyPr anchor="b">
            <a:noAutofit/>
          </a:bodyPr>
          <a:lstStyle>
            <a:lvl1pPr marL="12700" marR="0" indent="0" algn="l" defTabSz="914400" rtl="0" eaLnBrk="1" fontAlgn="auto" latinLnBrk="0" hangingPunct="1">
              <a:lnSpc>
                <a:spcPts val="5855"/>
              </a:lnSpc>
              <a:spcBef>
                <a:spcPts val="95"/>
              </a:spcBef>
              <a:spcAft>
                <a:spcPts val="0"/>
              </a:spcAft>
              <a:buClrTx/>
              <a:buSzTx/>
              <a:buFontTx/>
              <a:buNone/>
              <a:tabLst/>
              <a:defRPr kumimoji="0" lang="fr-FR" sz="3000" b="0" i="1" u="none" strike="noStrike" kern="0" cap="none" spc="-25" normalizeH="0" baseline="0">
                <a:ln>
                  <a:noFill/>
                </a:ln>
                <a:solidFill>
                  <a:sysClr val="windowText" lastClr="000000"/>
                </a:solidFill>
                <a:effectLst/>
                <a:uLnTx/>
                <a:uFillTx/>
                <a:latin typeface="Libre Baskerville" panose="02000000000000000000" pitchFamily="2" charset="0"/>
                <a:ea typeface="+mj-ea"/>
                <a:cs typeface="Libre Baskerville" panose="02000000000000000000" pitchFamily="2" charset="0"/>
              </a:defRPr>
            </a:lvl1pPr>
          </a:lstStyle>
          <a:p>
            <a:pPr marL="12700" marR="0" lvl="0" indent="0" algn="l" defTabSz="914400" rtl="0" eaLnBrk="1" fontAlgn="auto" latinLnBrk="0" hangingPunct="1">
              <a:lnSpc>
                <a:spcPts val="5855"/>
              </a:lnSpc>
              <a:spcBef>
                <a:spcPts val="95"/>
              </a:spcBef>
              <a:spcAft>
                <a:spcPts val="0"/>
              </a:spcAft>
              <a:buClrTx/>
              <a:buSzTx/>
              <a:buFontTx/>
              <a:buNone/>
              <a:tabLst/>
              <a:defRPr/>
            </a:pPr>
            <a:r>
              <a:rPr lang="fr-FR" dirty="0"/>
              <a:t>Cliquez pour modifier les styles du texte du masque</a:t>
            </a:r>
          </a:p>
        </p:txBody>
      </p:sp>
      <p:sp>
        <p:nvSpPr>
          <p:cNvPr id="12" name="Espace réservé du texte 11">
            <a:extLst>
              <a:ext uri="{FF2B5EF4-FFF2-40B4-BE49-F238E27FC236}">
                <a16:creationId xmlns:a16="http://schemas.microsoft.com/office/drawing/2014/main" id="{3B43C9DE-D74E-CC4F-8588-92FA289961B0}"/>
              </a:ext>
            </a:extLst>
          </p:cNvPr>
          <p:cNvSpPr>
            <a:spLocks noGrp="1"/>
          </p:cNvSpPr>
          <p:nvPr>
            <p:ph type="body" sz="quarter" idx="14" hasCustomPrompt="1"/>
          </p:nvPr>
        </p:nvSpPr>
        <p:spPr>
          <a:xfrm>
            <a:off x="487623" y="1175009"/>
            <a:ext cx="11723231" cy="719544"/>
          </a:xfrm>
          <a:prstGeom prst="rect">
            <a:avLst/>
          </a:prstGeom>
        </p:spPr>
        <p:txBody>
          <a:bodyPr>
            <a:noAutofit/>
          </a:bodyPr>
          <a:lstStyle>
            <a:lvl1pPr marL="0" indent="0">
              <a:buFontTx/>
              <a:buNone/>
              <a:defRPr kumimoji="0" lang="fr-FR" sz="3000" b="0" i="0" u="none" strike="noStrike" kern="0" cap="all" spc="-5" normalizeH="0" baseline="0" dirty="0" smtClean="0">
                <a:ln>
                  <a:noFill/>
                </a:ln>
                <a:solidFill>
                  <a:sysClr val="windowText" lastClr="000000"/>
                </a:solidFill>
                <a:effectLst/>
                <a:uLnTx/>
                <a:uFillTx/>
                <a:latin typeface="Lato-Light"/>
                <a:ea typeface="+mj-ea"/>
                <a:cs typeface="Lato-Ligh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dirty="0"/>
              <a:t>CLIQUEZ POUR MODIFIER LES STYLES DU TEXTE DU MASQUE</a:t>
            </a:r>
          </a:p>
        </p:txBody>
      </p:sp>
      <p:sp>
        <p:nvSpPr>
          <p:cNvPr id="33" name="object 7">
            <a:extLst>
              <a:ext uri="{FF2B5EF4-FFF2-40B4-BE49-F238E27FC236}">
                <a16:creationId xmlns:a16="http://schemas.microsoft.com/office/drawing/2014/main" id="{CFCB5185-3C9F-1141-AC80-AF9D43415CFB}"/>
              </a:ext>
            </a:extLst>
          </p:cNvPr>
          <p:cNvSpPr>
            <a:spLocks noChangeAspect="1"/>
          </p:cNvSpPr>
          <p:nvPr userDrawn="1"/>
        </p:nvSpPr>
        <p:spPr>
          <a:xfrm>
            <a:off x="11408107" y="293136"/>
            <a:ext cx="174248" cy="180000"/>
          </a:xfrm>
          <a:custGeom>
            <a:avLst/>
            <a:gdLst/>
            <a:ahLst/>
            <a:cxnLst/>
            <a:rect l="l" t="t" r="r" b="b"/>
            <a:pathLst>
              <a:path w="981075" h="1013460">
                <a:moveTo>
                  <a:pt x="548792" y="741299"/>
                </a:moveTo>
                <a:lnTo>
                  <a:pt x="545846" y="694016"/>
                </a:lnTo>
                <a:lnTo>
                  <a:pt x="537235" y="648474"/>
                </a:lnTo>
                <a:lnTo>
                  <a:pt x="523341" y="605015"/>
                </a:lnTo>
                <a:lnTo>
                  <a:pt x="504494" y="564007"/>
                </a:lnTo>
                <a:lnTo>
                  <a:pt x="481076" y="525805"/>
                </a:lnTo>
                <a:lnTo>
                  <a:pt x="453415" y="490753"/>
                </a:lnTo>
                <a:lnTo>
                  <a:pt x="421894" y="459219"/>
                </a:lnTo>
                <a:lnTo>
                  <a:pt x="386842" y="431571"/>
                </a:lnTo>
                <a:lnTo>
                  <a:pt x="348640" y="408139"/>
                </a:lnTo>
                <a:lnTo>
                  <a:pt x="307632" y="389293"/>
                </a:lnTo>
                <a:lnTo>
                  <a:pt x="264185" y="375399"/>
                </a:lnTo>
                <a:lnTo>
                  <a:pt x="218643" y="366788"/>
                </a:lnTo>
                <a:lnTo>
                  <a:pt x="171361" y="363842"/>
                </a:lnTo>
                <a:lnTo>
                  <a:pt x="125882" y="366585"/>
                </a:lnTo>
                <a:lnTo>
                  <a:pt x="82003" y="374586"/>
                </a:lnTo>
                <a:lnTo>
                  <a:pt x="40030" y="387502"/>
                </a:lnTo>
                <a:lnTo>
                  <a:pt x="292" y="405015"/>
                </a:lnTo>
                <a:lnTo>
                  <a:pt x="4381" y="462305"/>
                </a:lnTo>
                <a:lnTo>
                  <a:pt x="14389" y="517486"/>
                </a:lnTo>
                <a:lnTo>
                  <a:pt x="29692" y="570484"/>
                </a:lnTo>
                <a:lnTo>
                  <a:pt x="49695" y="621182"/>
                </a:lnTo>
                <a:lnTo>
                  <a:pt x="73774" y="669480"/>
                </a:lnTo>
                <a:lnTo>
                  <a:pt x="101307" y="715276"/>
                </a:lnTo>
                <a:lnTo>
                  <a:pt x="131711" y="758469"/>
                </a:lnTo>
                <a:lnTo>
                  <a:pt x="164350" y="798957"/>
                </a:lnTo>
                <a:lnTo>
                  <a:pt x="198628" y="836637"/>
                </a:lnTo>
                <a:lnTo>
                  <a:pt x="233921" y="871410"/>
                </a:lnTo>
                <a:lnTo>
                  <a:pt x="269608" y="903160"/>
                </a:lnTo>
                <a:lnTo>
                  <a:pt x="305104" y="931811"/>
                </a:lnTo>
                <a:lnTo>
                  <a:pt x="339788" y="957224"/>
                </a:lnTo>
                <a:lnTo>
                  <a:pt x="373037" y="979335"/>
                </a:lnTo>
                <a:lnTo>
                  <a:pt x="432790" y="1013180"/>
                </a:lnTo>
                <a:lnTo>
                  <a:pt x="466178" y="976591"/>
                </a:lnTo>
                <a:lnTo>
                  <a:pt x="494601" y="935863"/>
                </a:lnTo>
                <a:lnTo>
                  <a:pt x="517563" y="891476"/>
                </a:lnTo>
                <a:lnTo>
                  <a:pt x="534581" y="843940"/>
                </a:lnTo>
                <a:lnTo>
                  <a:pt x="545147" y="793711"/>
                </a:lnTo>
                <a:lnTo>
                  <a:pt x="548792" y="741299"/>
                </a:lnTo>
                <a:close/>
              </a:path>
              <a:path w="981075" h="1013460">
                <a:moveTo>
                  <a:pt x="936028" y="611339"/>
                </a:moveTo>
                <a:lnTo>
                  <a:pt x="926325" y="563473"/>
                </a:lnTo>
                <a:lnTo>
                  <a:pt x="913726" y="516724"/>
                </a:lnTo>
                <a:lnTo>
                  <a:pt x="898347" y="471182"/>
                </a:lnTo>
                <a:lnTo>
                  <a:pt x="880262" y="426935"/>
                </a:lnTo>
                <a:lnTo>
                  <a:pt x="859574" y="384098"/>
                </a:lnTo>
                <a:lnTo>
                  <a:pt x="836396" y="342760"/>
                </a:lnTo>
                <a:lnTo>
                  <a:pt x="810818" y="303022"/>
                </a:lnTo>
                <a:lnTo>
                  <a:pt x="782929" y="264985"/>
                </a:lnTo>
                <a:lnTo>
                  <a:pt x="752843" y="228752"/>
                </a:lnTo>
                <a:lnTo>
                  <a:pt x="720661" y="194411"/>
                </a:lnTo>
                <a:lnTo>
                  <a:pt x="686473" y="162077"/>
                </a:lnTo>
                <a:lnTo>
                  <a:pt x="650367" y="131838"/>
                </a:lnTo>
                <a:lnTo>
                  <a:pt x="612457" y="103797"/>
                </a:lnTo>
                <a:lnTo>
                  <a:pt x="572846" y="78054"/>
                </a:lnTo>
                <a:lnTo>
                  <a:pt x="531622" y="54698"/>
                </a:lnTo>
                <a:lnTo>
                  <a:pt x="488886" y="33845"/>
                </a:lnTo>
                <a:lnTo>
                  <a:pt x="444728" y="15570"/>
                </a:lnTo>
                <a:lnTo>
                  <a:pt x="399262" y="0"/>
                </a:lnTo>
                <a:lnTo>
                  <a:pt x="0" y="0"/>
                </a:lnTo>
                <a:lnTo>
                  <a:pt x="0" y="290944"/>
                </a:lnTo>
                <a:lnTo>
                  <a:pt x="40779" y="277431"/>
                </a:lnTo>
                <a:lnTo>
                  <a:pt x="83045" y="267525"/>
                </a:lnTo>
                <a:lnTo>
                  <a:pt x="126631" y="261429"/>
                </a:lnTo>
                <a:lnTo>
                  <a:pt x="171373" y="259359"/>
                </a:lnTo>
                <a:lnTo>
                  <a:pt x="220573" y="261848"/>
                </a:lnTo>
                <a:lnTo>
                  <a:pt x="268363" y="269163"/>
                </a:lnTo>
                <a:lnTo>
                  <a:pt x="314515" y="281063"/>
                </a:lnTo>
                <a:lnTo>
                  <a:pt x="358762" y="297294"/>
                </a:lnTo>
                <a:lnTo>
                  <a:pt x="400875" y="317614"/>
                </a:lnTo>
                <a:lnTo>
                  <a:pt x="440613" y="341782"/>
                </a:lnTo>
                <a:lnTo>
                  <a:pt x="477710" y="369544"/>
                </a:lnTo>
                <a:lnTo>
                  <a:pt x="511949" y="400672"/>
                </a:lnTo>
                <a:lnTo>
                  <a:pt x="543077" y="434911"/>
                </a:lnTo>
                <a:lnTo>
                  <a:pt x="570839" y="472020"/>
                </a:lnTo>
                <a:lnTo>
                  <a:pt x="595007" y="511759"/>
                </a:lnTo>
                <a:lnTo>
                  <a:pt x="615327" y="553885"/>
                </a:lnTo>
                <a:lnTo>
                  <a:pt x="631545" y="598144"/>
                </a:lnTo>
                <a:lnTo>
                  <a:pt x="643445" y="644296"/>
                </a:lnTo>
                <a:lnTo>
                  <a:pt x="650760" y="692099"/>
                </a:lnTo>
                <a:lnTo>
                  <a:pt x="653249" y="741299"/>
                </a:lnTo>
                <a:lnTo>
                  <a:pt x="650113" y="796417"/>
                </a:lnTo>
                <a:lnTo>
                  <a:pt x="640930" y="849731"/>
                </a:lnTo>
                <a:lnTo>
                  <a:pt x="626046" y="900874"/>
                </a:lnTo>
                <a:lnTo>
                  <a:pt x="605840" y="949540"/>
                </a:lnTo>
                <a:lnTo>
                  <a:pt x="580631" y="995362"/>
                </a:lnTo>
                <a:lnTo>
                  <a:pt x="615454" y="974102"/>
                </a:lnTo>
                <a:lnTo>
                  <a:pt x="652665" y="948740"/>
                </a:lnTo>
                <a:lnTo>
                  <a:pt x="691413" y="919391"/>
                </a:lnTo>
                <a:lnTo>
                  <a:pt x="730872" y="886180"/>
                </a:lnTo>
                <a:lnTo>
                  <a:pt x="770229" y="849210"/>
                </a:lnTo>
                <a:lnTo>
                  <a:pt x="808621" y="808609"/>
                </a:lnTo>
                <a:lnTo>
                  <a:pt x="838174" y="773442"/>
                </a:lnTo>
                <a:lnTo>
                  <a:pt x="866127" y="736053"/>
                </a:lnTo>
                <a:lnTo>
                  <a:pt x="892022" y="696531"/>
                </a:lnTo>
                <a:lnTo>
                  <a:pt x="915466" y="654939"/>
                </a:lnTo>
                <a:lnTo>
                  <a:pt x="936028" y="611339"/>
                </a:lnTo>
                <a:close/>
              </a:path>
              <a:path w="981075" h="1013460">
                <a:moveTo>
                  <a:pt x="981075" y="12"/>
                </a:moveTo>
                <a:lnTo>
                  <a:pt x="645198" y="12"/>
                </a:lnTo>
                <a:lnTo>
                  <a:pt x="684822" y="26962"/>
                </a:lnTo>
                <a:lnTo>
                  <a:pt x="722871" y="55968"/>
                </a:lnTo>
                <a:lnTo>
                  <a:pt x="759256" y="86956"/>
                </a:lnTo>
                <a:lnTo>
                  <a:pt x="793915" y="119849"/>
                </a:lnTo>
                <a:lnTo>
                  <a:pt x="826744" y="154546"/>
                </a:lnTo>
                <a:lnTo>
                  <a:pt x="857681" y="190982"/>
                </a:lnTo>
                <a:lnTo>
                  <a:pt x="886650" y="229082"/>
                </a:lnTo>
                <a:lnTo>
                  <a:pt x="913549" y="268744"/>
                </a:lnTo>
                <a:lnTo>
                  <a:pt x="938301" y="309905"/>
                </a:lnTo>
                <a:lnTo>
                  <a:pt x="960843" y="352475"/>
                </a:lnTo>
                <a:lnTo>
                  <a:pt x="981075" y="396392"/>
                </a:lnTo>
                <a:lnTo>
                  <a:pt x="981075" y="12"/>
                </a:lnTo>
                <a:close/>
              </a:path>
            </a:pathLst>
          </a:custGeom>
          <a:solidFill>
            <a:srgbClr val="EA4334"/>
          </a:solidFill>
        </p:spPr>
        <p:txBody>
          <a:bodyPr wrap="square" lIns="0" tIns="0" rIns="0" bIns="0" rtlCol="0"/>
          <a:lstStyle/>
          <a:p>
            <a:endParaRPr/>
          </a:p>
        </p:txBody>
      </p:sp>
      <p:sp>
        <p:nvSpPr>
          <p:cNvPr id="11" name="Espace réservé du numéro de diapositive 10">
            <a:extLst>
              <a:ext uri="{FF2B5EF4-FFF2-40B4-BE49-F238E27FC236}">
                <a16:creationId xmlns:a16="http://schemas.microsoft.com/office/drawing/2014/main" id="{A503E55B-7F39-5348-9A73-33E7C82EDF32}"/>
              </a:ext>
            </a:extLst>
          </p:cNvPr>
          <p:cNvSpPr>
            <a:spLocks noGrp="1"/>
          </p:cNvSpPr>
          <p:nvPr>
            <p:ph type="sldNum" sz="quarter" idx="21"/>
          </p:nvPr>
        </p:nvSpPr>
        <p:spPr/>
        <p:txBody>
          <a:bodyPr/>
          <a:lstStyle/>
          <a:p>
            <a:fld id="{334D4FF5-5FCB-2945-841A-A3CAF61B538E}" type="slidenum">
              <a:rPr lang="fr-FR" smtClean="0"/>
              <a:pPr/>
              <a:t>‹#›</a:t>
            </a:fld>
            <a:endParaRPr lang="fr-FR" dirty="0"/>
          </a:p>
        </p:txBody>
      </p:sp>
      <p:sp>
        <p:nvSpPr>
          <p:cNvPr id="3" name="Titre 2">
            <a:extLst>
              <a:ext uri="{FF2B5EF4-FFF2-40B4-BE49-F238E27FC236}">
                <a16:creationId xmlns:a16="http://schemas.microsoft.com/office/drawing/2014/main" id="{2E644D3A-FF98-2941-85FF-FD3F59C2A8D0}"/>
              </a:ext>
            </a:extLst>
          </p:cNvPr>
          <p:cNvSpPr>
            <a:spLocks noGrp="1"/>
          </p:cNvSpPr>
          <p:nvPr>
            <p:ph type="title" hasCustomPrompt="1"/>
          </p:nvPr>
        </p:nvSpPr>
        <p:spPr>
          <a:xfrm>
            <a:off x="567547" y="308526"/>
            <a:ext cx="10515600" cy="150682"/>
          </a:xfrm>
        </p:spPr>
        <p:txBody>
          <a:bodyPr/>
          <a:lstStyle/>
          <a:p>
            <a:r>
              <a:rPr lang="fr-FR" dirty="0"/>
              <a:t>TITRE DE LA PARTIE </a:t>
            </a:r>
          </a:p>
        </p:txBody>
      </p:sp>
      <p:sp>
        <p:nvSpPr>
          <p:cNvPr id="13" name="Espace réservé du texte 5">
            <a:extLst>
              <a:ext uri="{FF2B5EF4-FFF2-40B4-BE49-F238E27FC236}">
                <a16:creationId xmlns:a16="http://schemas.microsoft.com/office/drawing/2014/main" id="{29325E85-A9EB-3E4A-AA28-693319DFAF4D}"/>
              </a:ext>
            </a:extLst>
          </p:cNvPr>
          <p:cNvSpPr>
            <a:spLocks noGrp="1"/>
          </p:cNvSpPr>
          <p:nvPr>
            <p:ph type="body" sz="quarter" idx="24" hasCustomPrompt="1"/>
          </p:nvPr>
        </p:nvSpPr>
        <p:spPr>
          <a:xfrm>
            <a:off x="613646" y="6439982"/>
            <a:ext cx="7393763" cy="365126"/>
          </a:xfrm>
        </p:spPr>
        <p:txBody>
          <a:bodyPr lIns="0" tIns="0" rIns="0" bIns="0" anchor="t">
            <a:noAutofit/>
          </a:bodyPr>
          <a:lstStyle>
            <a:lvl1pPr marL="0" indent="0">
              <a:buFontTx/>
              <a:buNone/>
              <a:defRPr lang="fr-FR" sz="800" b="0" kern="1200" cap="none"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1pPr>
            <a:lvl2pPr marL="4572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2pPr>
            <a:lvl3pPr marL="9144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3pPr>
            <a:lvl4pPr marL="13716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4pPr>
            <a:lvl5pPr marL="1828800" indent="0">
              <a:buFontTx/>
              <a:buNone/>
              <a:defRPr lang="fr-FR" sz="800" b="0" kern="1200" baseline="0" dirty="0">
                <a:solidFill>
                  <a:srgbClr val="272529"/>
                </a:solidFill>
                <a:latin typeface="Lato" panose="020F0502020204030203" pitchFamily="34" charset="0"/>
                <a:ea typeface="Lato" panose="020F0502020204030203" pitchFamily="34" charset="0"/>
                <a:cs typeface="Lato" panose="020F0502020204030203" pitchFamily="34" charset="0"/>
              </a:defRPr>
            </a:lvl5pPr>
          </a:lstStyle>
          <a:p>
            <a:pPr lvl="0"/>
            <a:r>
              <a:rPr lang="fr-FR" dirty="0"/>
              <a:t>Source :</a:t>
            </a:r>
          </a:p>
        </p:txBody>
      </p:sp>
      <p:sp>
        <p:nvSpPr>
          <p:cNvPr id="4" name="Espace réservé du pied de page 3">
            <a:extLst>
              <a:ext uri="{FF2B5EF4-FFF2-40B4-BE49-F238E27FC236}">
                <a16:creationId xmlns:a16="http://schemas.microsoft.com/office/drawing/2014/main" id="{EB293D3B-AD94-DD44-BDD9-7A2576C5CF29}"/>
              </a:ext>
            </a:extLst>
          </p:cNvPr>
          <p:cNvSpPr>
            <a:spLocks noGrp="1"/>
          </p:cNvSpPr>
          <p:nvPr>
            <p:ph type="ftr" sz="quarter" idx="25"/>
          </p:nvPr>
        </p:nvSpPr>
        <p:spPr/>
        <p:txBody>
          <a:bodyPr/>
          <a:lstStyle/>
          <a:p>
            <a:pPr marL="12700">
              <a:spcBef>
                <a:spcPts val="75"/>
              </a:spcBef>
              <a:tabLst>
                <a:tab pos="3273425" algn="l"/>
              </a:tabLst>
            </a:pPr>
            <a:r>
              <a:rPr lang="fr-FR"/>
              <a:t>TITLE OF THE PRESENTATION</a:t>
            </a:r>
            <a:endParaRPr lang="fr-FR" dirty="0"/>
          </a:p>
        </p:txBody>
      </p:sp>
      <p:sp>
        <p:nvSpPr>
          <p:cNvPr id="14" name="Espace réservé du texte 5">
            <a:extLst>
              <a:ext uri="{FF2B5EF4-FFF2-40B4-BE49-F238E27FC236}">
                <a16:creationId xmlns:a16="http://schemas.microsoft.com/office/drawing/2014/main" id="{DD1E3D87-6B8D-4894-A301-94743EBB0D12}"/>
              </a:ext>
            </a:extLst>
          </p:cNvPr>
          <p:cNvSpPr>
            <a:spLocks noGrp="1"/>
          </p:cNvSpPr>
          <p:nvPr>
            <p:ph type="body" sz="quarter" idx="26" hasCustomPrompt="1"/>
          </p:nvPr>
        </p:nvSpPr>
        <p:spPr>
          <a:xfrm>
            <a:off x="613646" y="5973117"/>
            <a:ext cx="11212227" cy="451933"/>
          </a:xfrm>
        </p:spPr>
        <p:txBody>
          <a:bodyPr lIns="0" tIns="0" rIns="0" bIns="0" anchor="t">
            <a:noAutofit/>
          </a:bodyPr>
          <a:lstStyle>
            <a:lvl1pPr marL="0" indent="0">
              <a:buFontTx/>
              <a:buNone/>
              <a:defRPr lang="fr-FR" sz="1200" b="0" kern="1200" cap="none"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1pPr>
            <a:lvl2pPr marL="4572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2pPr>
            <a:lvl3pPr marL="9144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3pPr>
            <a:lvl4pPr marL="13716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4pPr>
            <a:lvl5pPr marL="1828800" indent="0">
              <a:buFontTx/>
              <a:buNone/>
              <a:defRPr lang="fr-FR" sz="800" b="0" kern="1200" baseline="0" dirty="0">
                <a:solidFill>
                  <a:srgbClr val="272529"/>
                </a:solidFill>
                <a:latin typeface="Lato" panose="020F0502020204030203" pitchFamily="34" charset="0"/>
                <a:ea typeface="Lato" panose="020F0502020204030203" pitchFamily="34" charset="0"/>
                <a:cs typeface="Lato" panose="020F0502020204030203" pitchFamily="34" charset="0"/>
              </a:defRPr>
            </a:lvl5pPr>
          </a:lstStyle>
          <a:p>
            <a:pPr lvl="0"/>
            <a:r>
              <a:rPr lang="fr-FR" dirty="0"/>
              <a:t>Risks / disclaimer</a:t>
            </a:r>
          </a:p>
        </p:txBody>
      </p:sp>
    </p:spTree>
    <p:extLst>
      <p:ext uri="{BB962C8B-B14F-4D97-AF65-F5344CB8AC3E}">
        <p14:creationId xmlns:p14="http://schemas.microsoft.com/office/powerpoint/2010/main" val="19379301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106BA7E0-F450-3947-BD28-F5BD141CCA87}"/>
              </a:ext>
            </a:extLst>
          </p:cNvPr>
          <p:cNvSpPr>
            <a:spLocks noGrp="1"/>
          </p:cNvSpPr>
          <p:nvPr>
            <p:ph type="sldNum" sz="quarter" idx="4"/>
          </p:nvPr>
        </p:nvSpPr>
        <p:spPr>
          <a:xfrm>
            <a:off x="10722864" y="6351427"/>
            <a:ext cx="1011936" cy="365125"/>
          </a:xfrm>
          <a:prstGeom prst="rect">
            <a:avLst/>
          </a:prstGeom>
        </p:spPr>
        <p:txBody>
          <a:bodyPr vert="horz" lIns="91440" tIns="45720" rIns="91440" bIns="45720" rtlCol="0" anchor="ctr"/>
          <a:lstStyle>
            <a:lvl1pPr algn="r">
              <a:defRPr kumimoji="0" lang="fr-FR" sz="900" b="0" i="0" u="none" strike="noStrike" kern="1200" cap="none" spc="-5" normalizeH="0" baseline="0" smtClean="0">
                <a:ln>
                  <a:noFill/>
                </a:ln>
                <a:solidFill>
                  <a:schemeClr val="accent5"/>
                </a:solidFill>
                <a:effectLst/>
                <a:uLnTx/>
                <a:uFillTx/>
                <a:latin typeface="Lato-Heavy"/>
                <a:ea typeface="+mn-ea"/>
                <a:cs typeface="Lato-Heavy"/>
              </a:defRPr>
            </a:lvl1pPr>
          </a:lstStyle>
          <a:p>
            <a:fld id="{334D4FF5-5FCB-2945-841A-A3CAF61B538E}" type="slidenum">
              <a:rPr lang="de-DE" noProof="0" smtClean="0"/>
              <a:t>‹#›</a:t>
            </a:fld>
            <a:endParaRPr lang="de-DE" noProof="0" dirty="0"/>
          </a:p>
        </p:txBody>
      </p:sp>
      <p:sp>
        <p:nvSpPr>
          <p:cNvPr id="2" name="Espace réservé du titre 1">
            <a:extLst>
              <a:ext uri="{FF2B5EF4-FFF2-40B4-BE49-F238E27FC236}">
                <a16:creationId xmlns:a16="http://schemas.microsoft.com/office/drawing/2014/main" id="{7A9DCE9B-A36C-384B-B301-6D6CFD878C7D}"/>
              </a:ext>
            </a:extLst>
          </p:cNvPr>
          <p:cNvSpPr>
            <a:spLocks noGrp="1"/>
          </p:cNvSpPr>
          <p:nvPr>
            <p:ph type="title"/>
          </p:nvPr>
        </p:nvSpPr>
        <p:spPr>
          <a:xfrm>
            <a:off x="567547" y="308526"/>
            <a:ext cx="10515600" cy="166071"/>
          </a:xfrm>
          <a:prstGeom prst="rect">
            <a:avLst/>
          </a:prstGeom>
        </p:spPr>
        <p:txBody>
          <a:bodyPr vert="horz" wrap="square" lIns="0" tIns="12065" rIns="0" bIns="0" rtlCol="0">
            <a:spAutoFit/>
          </a:bodyPr>
          <a:lstStyle/>
          <a:p>
            <a:pPr marL="12700" lvl="0">
              <a:lnSpc>
                <a:spcPct val="100000"/>
              </a:lnSpc>
              <a:spcBef>
                <a:spcPts val="95"/>
              </a:spcBef>
            </a:pPr>
            <a:r>
              <a:rPr lang="de-DE" noProof="0" dirty="0"/>
              <a:t>MODIFIEZ LE STYLE DU TITRE</a:t>
            </a:r>
          </a:p>
        </p:txBody>
      </p:sp>
      <p:sp>
        <p:nvSpPr>
          <p:cNvPr id="3" name="Espace réservé du texte 2">
            <a:extLst>
              <a:ext uri="{FF2B5EF4-FFF2-40B4-BE49-F238E27FC236}">
                <a16:creationId xmlns:a16="http://schemas.microsoft.com/office/drawing/2014/main" id="{69CA139E-8E30-FF41-8BA7-8F5F8B7904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noProof="0" dirty="0" err="1"/>
              <a:t>Cliquez pour modifier les styles </a:t>
            </a:r>
            <a:r>
              <a:rPr lang="de-DE" noProof="0" dirty="0"/>
              <a:t>du texte du </a:t>
            </a:r>
            <a:r>
              <a:rPr lang="de-DE" noProof="0" dirty="0" err="1"/>
              <a:t>masque</a:t>
            </a:r>
            <a:endParaRPr lang="de-DE" noProof="0" dirty="0"/>
          </a:p>
          <a:p>
            <a:pPr lvl="1"/>
            <a:r>
              <a:rPr lang="de-DE" noProof="0" dirty="0" err="1"/>
              <a:t>Deuxième niveau</a:t>
            </a:r>
            <a:endParaRPr lang="de-DE" noProof="0" dirty="0"/>
          </a:p>
          <a:p>
            <a:pPr lvl="2"/>
            <a:r>
              <a:rPr lang="de-DE" noProof="0" dirty="0" err="1"/>
              <a:t>Troisième niveau</a:t>
            </a:r>
            <a:endParaRPr lang="de-DE" noProof="0" dirty="0"/>
          </a:p>
          <a:p>
            <a:pPr lvl="3"/>
            <a:r>
              <a:rPr lang="de-DE" noProof="0" dirty="0" err="1"/>
              <a:t>Quatrième niveau</a:t>
            </a:r>
            <a:endParaRPr lang="de-DE" noProof="0" dirty="0"/>
          </a:p>
          <a:p>
            <a:pPr lvl="4"/>
            <a:r>
              <a:rPr lang="de-DE" noProof="0" dirty="0" err="1"/>
              <a:t>Cinquième niveau</a:t>
            </a:r>
            <a:endParaRPr lang="de-DE" noProof="0" dirty="0"/>
          </a:p>
        </p:txBody>
      </p:sp>
      <p:sp>
        <p:nvSpPr>
          <p:cNvPr id="7" name="object 7">
            <a:extLst>
              <a:ext uri="{FF2B5EF4-FFF2-40B4-BE49-F238E27FC236}">
                <a16:creationId xmlns:a16="http://schemas.microsoft.com/office/drawing/2014/main" id="{A0C9924A-F6D2-8E49-BBD3-BCFBE840A15F}"/>
              </a:ext>
            </a:extLst>
          </p:cNvPr>
          <p:cNvSpPr>
            <a:spLocks noChangeAspect="1"/>
          </p:cNvSpPr>
          <p:nvPr userDrawn="1"/>
        </p:nvSpPr>
        <p:spPr>
          <a:xfrm>
            <a:off x="11408107" y="293136"/>
            <a:ext cx="174248" cy="180000"/>
          </a:xfrm>
          <a:custGeom>
            <a:avLst/>
            <a:gdLst/>
            <a:ahLst/>
            <a:cxnLst/>
            <a:rect l="l" t="t" r="r" b="b"/>
            <a:pathLst>
              <a:path w="981075" h="1013460">
                <a:moveTo>
                  <a:pt x="548792" y="741299"/>
                </a:moveTo>
                <a:lnTo>
                  <a:pt x="545846" y="694016"/>
                </a:lnTo>
                <a:lnTo>
                  <a:pt x="537235" y="648474"/>
                </a:lnTo>
                <a:lnTo>
                  <a:pt x="523341" y="605015"/>
                </a:lnTo>
                <a:lnTo>
                  <a:pt x="504494" y="564007"/>
                </a:lnTo>
                <a:lnTo>
                  <a:pt x="481076" y="525805"/>
                </a:lnTo>
                <a:lnTo>
                  <a:pt x="453415" y="490753"/>
                </a:lnTo>
                <a:lnTo>
                  <a:pt x="421894" y="459219"/>
                </a:lnTo>
                <a:lnTo>
                  <a:pt x="386842" y="431571"/>
                </a:lnTo>
                <a:lnTo>
                  <a:pt x="348640" y="408139"/>
                </a:lnTo>
                <a:lnTo>
                  <a:pt x="307632" y="389293"/>
                </a:lnTo>
                <a:lnTo>
                  <a:pt x="264185" y="375399"/>
                </a:lnTo>
                <a:lnTo>
                  <a:pt x="218643" y="366788"/>
                </a:lnTo>
                <a:lnTo>
                  <a:pt x="171361" y="363842"/>
                </a:lnTo>
                <a:lnTo>
                  <a:pt x="125882" y="366585"/>
                </a:lnTo>
                <a:lnTo>
                  <a:pt x="82003" y="374586"/>
                </a:lnTo>
                <a:lnTo>
                  <a:pt x="40030" y="387502"/>
                </a:lnTo>
                <a:lnTo>
                  <a:pt x="292" y="405015"/>
                </a:lnTo>
                <a:lnTo>
                  <a:pt x="4381" y="462305"/>
                </a:lnTo>
                <a:lnTo>
                  <a:pt x="14389" y="517486"/>
                </a:lnTo>
                <a:lnTo>
                  <a:pt x="29692" y="570484"/>
                </a:lnTo>
                <a:lnTo>
                  <a:pt x="49695" y="621182"/>
                </a:lnTo>
                <a:lnTo>
                  <a:pt x="73774" y="669480"/>
                </a:lnTo>
                <a:lnTo>
                  <a:pt x="101307" y="715276"/>
                </a:lnTo>
                <a:lnTo>
                  <a:pt x="131711" y="758469"/>
                </a:lnTo>
                <a:lnTo>
                  <a:pt x="164350" y="798957"/>
                </a:lnTo>
                <a:lnTo>
                  <a:pt x="198628" y="836637"/>
                </a:lnTo>
                <a:lnTo>
                  <a:pt x="233921" y="871410"/>
                </a:lnTo>
                <a:lnTo>
                  <a:pt x="269608" y="903160"/>
                </a:lnTo>
                <a:lnTo>
                  <a:pt x="305104" y="931811"/>
                </a:lnTo>
                <a:lnTo>
                  <a:pt x="339788" y="957224"/>
                </a:lnTo>
                <a:lnTo>
                  <a:pt x="373037" y="979335"/>
                </a:lnTo>
                <a:lnTo>
                  <a:pt x="432790" y="1013180"/>
                </a:lnTo>
                <a:lnTo>
                  <a:pt x="466178" y="976591"/>
                </a:lnTo>
                <a:lnTo>
                  <a:pt x="494601" y="935863"/>
                </a:lnTo>
                <a:lnTo>
                  <a:pt x="517563" y="891476"/>
                </a:lnTo>
                <a:lnTo>
                  <a:pt x="534581" y="843940"/>
                </a:lnTo>
                <a:lnTo>
                  <a:pt x="545147" y="793711"/>
                </a:lnTo>
                <a:lnTo>
                  <a:pt x="548792" y="741299"/>
                </a:lnTo>
                <a:close/>
              </a:path>
              <a:path w="981075" h="1013460">
                <a:moveTo>
                  <a:pt x="936028" y="611339"/>
                </a:moveTo>
                <a:lnTo>
                  <a:pt x="926325" y="563473"/>
                </a:lnTo>
                <a:lnTo>
                  <a:pt x="913726" y="516724"/>
                </a:lnTo>
                <a:lnTo>
                  <a:pt x="898347" y="471182"/>
                </a:lnTo>
                <a:lnTo>
                  <a:pt x="880262" y="426935"/>
                </a:lnTo>
                <a:lnTo>
                  <a:pt x="859574" y="384098"/>
                </a:lnTo>
                <a:lnTo>
                  <a:pt x="836396" y="342760"/>
                </a:lnTo>
                <a:lnTo>
                  <a:pt x="810818" y="303022"/>
                </a:lnTo>
                <a:lnTo>
                  <a:pt x="782929" y="264985"/>
                </a:lnTo>
                <a:lnTo>
                  <a:pt x="752843" y="228752"/>
                </a:lnTo>
                <a:lnTo>
                  <a:pt x="720661" y="194411"/>
                </a:lnTo>
                <a:lnTo>
                  <a:pt x="686473" y="162077"/>
                </a:lnTo>
                <a:lnTo>
                  <a:pt x="650367" y="131838"/>
                </a:lnTo>
                <a:lnTo>
                  <a:pt x="612457" y="103797"/>
                </a:lnTo>
                <a:lnTo>
                  <a:pt x="572846" y="78054"/>
                </a:lnTo>
                <a:lnTo>
                  <a:pt x="531622" y="54698"/>
                </a:lnTo>
                <a:lnTo>
                  <a:pt x="488886" y="33845"/>
                </a:lnTo>
                <a:lnTo>
                  <a:pt x="444728" y="15570"/>
                </a:lnTo>
                <a:lnTo>
                  <a:pt x="399262" y="0"/>
                </a:lnTo>
                <a:lnTo>
                  <a:pt x="0" y="0"/>
                </a:lnTo>
                <a:lnTo>
                  <a:pt x="0" y="290944"/>
                </a:lnTo>
                <a:lnTo>
                  <a:pt x="40779" y="277431"/>
                </a:lnTo>
                <a:lnTo>
                  <a:pt x="83045" y="267525"/>
                </a:lnTo>
                <a:lnTo>
                  <a:pt x="126631" y="261429"/>
                </a:lnTo>
                <a:lnTo>
                  <a:pt x="171373" y="259359"/>
                </a:lnTo>
                <a:lnTo>
                  <a:pt x="220573" y="261848"/>
                </a:lnTo>
                <a:lnTo>
                  <a:pt x="268363" y="269163"/>
                </a:lnTo>
                <a:lnTo>
                  <a:pt x="314515" y="281063"/>
                </a:lnTo>
                <a:lnTo>
                  <a:pt x="358762" y="297294"/>
                </a:lnTo>
                <a:lnTo>
                  <a:pt x="400875" y="317614"/>
                </a:lnTo>
                <a:lnTo>
                  <a:pt x="440613" y="341782"/>
                </a:lnTo>
                <a:lnTo>
                  <a:pt x="477710" y="369544"/>
                </a:lnTo>
                <a:lnTo>
                  <a:pt x="511949" y="400672"/>
                </a:lnTo>
                <a:lnTo>
                  <a:pt x="543077" y="434911"/>
                </a:lnTo>
                <a:lnTo>
                  <a:pt x="570839" y="472020"/>
                </a:lnTo>
                <a:lnTo>
                  <a:pt x="595007" y="511759"/>
                </a:lnTo>
                <a:lnTo>
                  <a:pt x="615327" y="553885"/>
                </a:lnTo>
                <a:lnTo>
                  <a:pt x="631545" y="598144"/>
                </a:lnTo>
                <a:lnTo>
                  <a:pt x="643445" y="644296"/>
                </a:lnTo>
                <a:lnTo>
                  <a:pt x="650760" y="692099"/>
                </a:lnTo>
                <a:lnTo>
                  <a:pt x="653249" y="741299"/>
                </a:lnTo>
                <a:lnTo>
                  <a:pt x="650113" y="796417"/>
                </a:lnTo>
                <a:lnTo>
                  <a:pt x="640930" y="849731"/>
                </a:lnTo>
                <a:lnTo>
                  <a:pt x="626046" y="900874"/>
                </a:lnTo>
                <a:lnTo>
                  <a:pt x="605840" y="949540"/>
                </a:lnTo>
                <a:lnTo>
                  <a:pt x="580631" y="995362"/>
                </a:lnTo>
                <a:lnTo>
                  <a:pt x="615454" y="974102"/>
                </a:lnTo>
                <a:lnTo>
                  <a:pt x="652665" y="948740"/>
                </a:lnTo>
                <a:lnTo>
                  <a:pt x="691413" y="919391"/>
                </a:lnTo>
                <a:lnTo>
                  <a:pt x="730872" y="886180"/>
                </a:lnTo>
                <a:lnTo>
                  <a:pt x="770229" y="849210"/>
                </a:lnTo>
                <a:lnTo>
                  <a:pt x="808621" y="808609"/>
                </a:lnTo>
                <a:lnTo>
                  <a:pt x="838174" y="773442"/>
                </a:lnTo>
                <a:lnTo>
                  <a:pt x="866127" y="736053"/>
                </a:lnTo>
                <a:lnTo>
                  <a:pt x="892022" y="696531"/>
                </a:lnTo>
                <a:lnTo>
                  <a:pt x="915466" y="654939"/>
                </a:lnTo>
                <a:lnTo>
                  <a:pt x="936028" y="611339"/>
                </a:lnTo>
                <a:close/>
              </a:path>
              <a:path w="981075" h="1013460">
                <a:moveTo>
                  <a:pt x="981075" y="12"/>
                </a:moveTo>
                <a:lnTo>
                  <a:pt x="645198" y="12"/>
                </a:lnTo>
                <a:lnTo>
                  <a:pt x="684822" y="26962"/>
                </a:lnTo>
                <a:lnTo>
                  <a:pt x="722871" y="55968"/>
                </a:lnTo>
                <a:lnTo>
                  <a:pt x="759256" y="86956"/>
                </a:lnTo>
                <a:lnTo>
                  <a:pt x="793915" y="119849"/>
                </a:lnTo>
                <a:lnTo>
                  <a:pt x="826744" y="154546"/>
                </a:lnTo>
                <a:lnTo>
                  <a:pt x="857681" y="190982"/>
                </a:lnTo>
                <a:lnTo>
                  <a:pt x="886650" y="229082"/>
                </a:lnTo>
                <a:lnTo>
                  <a:pt x="913549" y="268744"/>
                </a:lnTo>
                <a:lnTo>
                  <a:pt x="938301" y="309905"/>
                </a:lnTo>
                <a:lnTo>
                  <a:pt x="960843" y="352475"/>
                </a:lnTo>
                <a:lnTo>
                  <a:pt x="981075" y="396392"/>
                </a:lnTo>
                <a:lnTo>
                  <a:pt x="981075" y="12"/>
                </a:lnTo>
                <a:close/>
              </a:path>
            </a:pathLst>
          </a:custGeom>
          <a:solidFill>
            <a:srgbClr val="EA4334"/>
          </a:solidFill>
        </p:spPr>
        <p:txBody>
          <a:bodyPr wrap="square" lIns="0" tIns="0" rIns="0" bIns="0" rtlCol="0"/>
          <a:lstStyle/>
          <a:p>
            <a:endParaRPr lang="de-DE" noProof="0" dirty="0"/>
          </a:p>
        </p:txBody>
      </p:sp>
      <p:sp>
        <p:nvSpPr>
          <p:cNvPr id="11" name="Espace réservé du pied de page 4">
            <a:extLst>
              <a:ext uri="{FF2B5EF4-FFF2-40B4-BE49-F238E27FC236}">
                <a16:creationId xmlns:a16="http://schemas.microsoft.com/office/drawing/2014/main" id="{704363A6-A7B6-AA42-9A0B-C55C345F3A8E}"/>
              </a:ext>
            </a:extLst>
          </p:cNvPr>
          <p:cNvSpPr>
            <a:spLocks noGrp="1"/>
          </p:cNvSpPr>
          <p:nvPr>
            <p:ph type="ftr" sz="quarter" idx="3"/>
          </p:nvPr>
        </p:nvSpPr>
        <p:spPr>
          <a:xfrm>
            <a:off x="5083712" y="6449024"/>
            <a:ext cx="6120000" cy="155812"/>
          </a:xfrm>
          <a:prstGeom prst="rect">
            <a:avLst/>
          </a:prstGeom>
        </p:spPr>
        <p:txBody>
          <a:bodyPr vert="horz" wrap="square" lIns="0" tIns="9525" rIns="0" bIns="0" rtlCol="0">
            <a:spAutoFit/>
          </a:bodyPr>
          <a:lstStyle>
            <a:lvl1pPr algn="r">
              <a:defRPr kumimoji="0" lang="fr-FR" sz="950" b="0" i="0" u="none" strike="noStrike" cap="all" spc="95" normalizeH="0" baseline="0">
                <a:ln>
                  <a:noFill/>
                </a:ln>
                <a:solidFill>
                  <a:srgbClr val="272529"/>
                </a:solidFill>
                <a:effectLst/>
                <a:uLnTx/>
                <a:uFillTx/>
                <a:latin typeface="Lato"/>
                <a:cs typeface="Lato"/>
              </a:defRPr>
            </a:lvl1pPr>
          </a:lstStyle>
          <a:p>
            <a:pPr marL="12700">
              <a:spcBef>
                <a:spcPts val="75"/>
              </a:spcBef>
              <a:tabLst>
                <a:tab pos="3273425" algn="l"/>
              </a:tabLst>
            </a:pPr>
            <a:r>
              <a:rPr lang="de-DE" noProof="0" dirty="0"/>
              <a:t>TITLE OF THE PRESENTATION</a:t>
            </a:r>
          </a:p>
        </p:txBody>
      </p:sp>
    </p:spTree>
    <p:extLst>
      <p:ext uri="{BB962C8B-B14F-4D97-AF65-F5344CB8AC3E}">
        <p14:creationId xmlns:p14="http://schemas.microsoft.com/office/powerpoint/2010/main" val="813828361"/>
      </p:ext>
    </p:extLst>
  </p:cSld>
  <p:clrMap bg1="lt1" tx1="dk1" bg2="lt2" tx2="dk2" accent1="accent1" accent2="accent2" accent3="accent3" accent4="accent4" accent5="accent5" accent6="accent6" hlink="hlink" folHlink="folHlink"/>
  <p:sldLayoutIdLst>
    <p:sldLayoutId id="2147483847" r:id="rId1"/>
    <p:sldLayoutId id="2147484032" r:id="rId2"/>
    <p:sldLayoutId id="2147483979" r:id="rId3"/>
  </p:sldLayoutIdLst>
  <p:hf hdr="0" dt="0"/>
  <p:txStyles>
    <p:titleStyle>
      <a:lvl1pPr algn="l" defTabSz="914400" rtl="0" eaLnBrk="1" latinLnBrk="0" hangingPunct="1">
        <a:lnSpc>
          <a:spcPct val="90000"/>
        </a:lnSpc>
        <a:spcBef>
          <a:spcPct val="0"/>
        </a:spcBef>
        <a:buNone/>
        <a:defRPr lang="fr-FR" sz="1000" b="0" i="0" kern="1100" cap="all" spc="135" baseline="0" smtClean="0">
          <a:solidFill>
            <a:schemeClr val="accent5"/>
          </a:solidFill>
          <a:latin typeface="Lato Heavy" panose="020F0502020204030203" pitchFamily="34" charset="0"/>
          <a:ea typeface="Lato Heavy" panose="020F0502020204030203" pitchFamily="34" charset="0"/>
          <a:cs typeface="Lato Heavy" panose="020F050202020403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orient="horz" pos="4133">
          <p15:clr>
            <a:srgbClr val="F26B43"/>
          </p15:clr>
        </p15:guide>
        <p15:guide id="4" pos="384" userDrawn="1">
          <p15:clr>
            <a:srgbClr val="F26B43"/>
          </p15:clr>
        </p15:guide>
        <p15:guide id="5" pos="7296" userDrawn="1">
          <p15:clr>
            <a:srgbClr val="F26B43"/>
          </p15:clr>
        </p15:guide>
        <p15:guide id="6" pos="408" userDrawn="1">
          <p15:clr>
            <a:srgbClr val="A4A3A4"/>
          </p15:clr>
        </p15:guide>
        <p15:guide id="7" pos="7272" userDrawn="1">
          <p15:clr>
            <a:srgbClr val="A4A3A4"/>
          </p15:clr>
        </p15:guide>
        <p15:guide id="8" pos="3864" userDrawn="1">
          <p15:clr>
            <a:srgbClr val="A4A3A4"/>
          </p15:clr>
        </p15:guide>
        <p15:guide id="9" pos="3888" userDrawn="1">
          <p15:clr>
            <a:srgbClr val="A4A3A4"/>
          </p15:clr>
        </p15:guide>
        <p15:guide id="10" pos="3816" userDrawn="1">
          <p15:clr>
            <a:srgbClr val="A4A3A4"/>
          </p15:clr>
        </p15:guide>
        <p15:guide id="11" pos="3792"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microsoft.com/office/2018/10/relationships/comments" Target="../comments/modernComment_7FF64B27_976F6EE5.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7FFFCD18_B4C2F7F0.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FBC3CE-7316-AA43-87A5-B510D25A4343}"/>
              </a:ext>
            </a:extLst>
          </p:cNvPr>
          <p:cNvSpPr>
            <a:spLocks noGrp="1"/>
          </p:cNvSpPr>
          <p:nvPr>
            <p:ph type="ctrTitle"/>
          </p:nvPr>
        </p:nvSpPr>
        <p:spPr>
          <a:xfrm>
            <a:off x="937405" y="4221655"/>
            <a:ext cx="10317191" cy="915497"/>
          </a:xfrm>
        </p:spPr>
        <p:txBody>
          <a:bodyPr>
            <a:noAutofit/>
          </a:bodyPr>
          <a:lstStyle/>
          <a:p>
            <a:r>
              <a:rPr lang="en-GB" sz="3250" dirty="0"/>
              <a:t>An investment solution aiming at investing efficiently in US equities</a:t>
            </a:r>
          </a:p>
        </p:txBody>
      </p:sp>
      <p:sp>
        <p:nvSpPr>
          <p:cNvPr id="3" name="Sous-titre 2">
            <a:extLst>
              <a:ext uri="{FF2B5EF4-FFF2-40B4-BE49-F238E27FC236}">
                <a16:creationId xmlns:a16="http://schemas.microsoft.com/office/drawing/2014/main" id="{F6AF4CCD-B353-C540-B509-B6D177ED4A98}"/>
              </a:ext>
            </a:extLst>
          </p:cNvPr>
          <p:cNvSpPr>
            <a:spLocks noGrp="1"/>
          </p:cNvSpPr>
          <p:nvPr>
            <p:ph type="subTitle" idx="1"/>
          </p:nvPr>
        </p:nvSpPr>
        <p:spPr>
          <a:xfrm>
            <a:off x="0" y="3200400"/>
            <a:ext cx="12192000" cy="914400"/>
          </a:xfrm>
        </p:spPr>
        <p:txBody>
          <a:bodyPr/>
          <a:lstStyle/>
          <a:p>
            <a:r>
              <a:rPr lang="en-GB" sz="3250" i="0" dirty="0"/>
              <a:t>ODDO BHF US Equity Active UCITS ETF </a:t>
            </a:r>
            <a:endParaRPr lang="de-DE" sz="3250" i="0" dirty="0"/>
          </a:p>
        </p:txBody>
      </p:sp>
      <p:sp>
        <p:nvSpPr>
          <p:cNvPr id="4" name="Espace réservé du texte 3">
            <a:extLst>
              <a:ext uri="{FF2B5EF4-FFF2-40B4-BE49-F238E27FC236}">
                <a16:creationId xmlns:a16="http://schemas.microsoft.com/office/drawing/2014/main" id="{BC436ED3-E375-6848-A44D-DDC9FDBB823D}"/>
              </a:ext>
            </a:extLst>
          </p:cNvPr>
          <p:cNvSpPr>
            <a:spLocks noGrp="1"/>
          </p:cNvSpPr>
          <p:nvPr>
            <p:ph type="body" sz="quarter" idx="10"/>
          </p:nvPr>
        </p:nvSpPr>
        <p:spPr>
          <a:xfrm>
            <a:off x="0" y="6271177"/>
            <a:ext cx="12192000" cy="596348"/>
          </a:xfrm>
        </p:spPr>
        <p:txBody>
          <a:bodyPr>
            <a:normAutofit/>
          </a:bodyPr>
          <a:lstStyle/>
          <a:p>
            <a:r>
              <a:rPr lang="de-DE" sz="800" dirty="0"/>
              <a:t>September 2025</a:t>
            </a:r>
          </a:p>
        </p:txBody>
      </p:sp>
      <p:sp>
        <p:nvSpPr>
          <p:cNvPr id="6" name="Footer Placeholder 4">
            <a:extLst>
              <a:ext uri="{FF2B5EF4-FFF2-40B4-BE49-F238E27FC236}">
                <a16:creationId xmlns:a16="http://schemas.microsoft.com/office/drawing/2014/main" id="{72CA09E9-9BE5-3F68-FA25-4D67520582C3}"/>
              </a:ext>
            </a:extLst>
          </p:cNvPr>
          <p:cNvSpPr txBox="1">
            <a:spLocks/>
          </p:cNvSpPr>
          <p:nvPr/>
        </p:nvSpPr>
        <p:spPr>
          <a:xfrm>
            <a:off x="9567334" y="214582"/>
            <a:ext cx="2459214" cy="515008"/>
          </a:xfrm>
          <a:prstGeom prst="rect">
            <a:avLst/>
          </a:prstGeom>
        </p:spPr>
        <p:txBody>
          <a:bodyPr vert="horz" lIns="91440" tIns="45720" rIns="91440" bIns="36000" rtlCol="0" anchor="ctr" anchorCtr="0">
            <a:normAutofit/>
          </a:bodyPr>
          <a:lstStyle>
            <a:lvl1pPr marL="0" indent="0" algn="ctr" defTabSz="914400" rtl="0" eaLnBrk="1" latinLnBrk="0" hangingPunct="1">
              <a:lnSpc>
                <a:spcPct val="90000"/>
              </a:lnSpc>
              <a:spcBef>
                <a:spcPts val="1000"/>
              </a:spcBef>
              <a:buFontTx/>
              <a:buNone/>
              <a:defRPr lang="fr-FR" sz="1100" b="0" i="0" kern="1200" cap="all" dirty="0" smtClean="0">
                <a:solidFill>
                  <a:schemeClr val="bg1"/>
                </a:solidFill>
                <a:latin typeface="Lato Heavy" panose="020F0502020204030203" pitchFamily="34" charset="0"/>
                <a:ea typeface="Lato Heavy" panose="020F0502020204030203" pitchFamily="34" charset="0"/>
                <a:cs typeface="Lato Heavy" panose="020F0502020204030203" pitchFamily="34" charset="0"/>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1000" spc="95" dirty="0">
                <a:solidFill>
                  <a:srgbClr val="FFFFFF"/>
                </a:solidFill>
                <a:latin typeface="Lato" panose="020F0502020204030203" pitchFamily="34" charset="0"/>
              </a:rPr>
              <a:t>Promotional INFORMATION</a:t>
            </a:r>
            <a:endParaRPr lang="en-US" sz="1000" spc="95" dirty="0">
              <a:solidFill>
                <a:srgbClr val="FFFFFF"/>
              </a:solidFill>
              <a:latin typeface="Lato" panose="020F0502020204030203" pitchFamily="34" charset="0"/>
            </a:endParaRPr>
          </a:p>
        </p:txBody>
      </p:sp>
    </p:spTree>
    <p:extLst>
      <p:ext uri="{BB962C8B-B14F-4D97-AF65-F5344CB8AC3E}">
        <p14:creationId xmlns:p14="http://schemas.microsoft.com/office/powerpoint/2010/main" val="2540662501"/>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Espace réservé du numéro de diapositive 59">
            <a:extLst>
              <a:ext uri="{FF2B5EF4-FFF2-40B4-BE49-F238E27FC236}">
                <a16:creationId xmlns:a16="http://schemas.microsoft.com/office/drawing/2014/main" id="{38B2730B-91A8-CD4A-BD6A-933D874C1AA2}"/>
              </a:ext>
            </a:extLst>
          </p:cNvPr>
          <p:cNvSpPr>
            <a:spLocks noGrp="1"/>
          </p:cNvSpPr>
          <p:nvPr>
            <p:ph type="sldNum" sz="quarter" idx="12"/>
          </p:nvPr>
        </p:nvSpPr>
        <p:spPr>
          <a:xfrm>
            <a:off x="10723675" y="6347665"/>
            <a:ext cx="1011936" cy="365125"/>
          </a:xfrm>
        </p:spPr>
        <p:txBody>
          <a:bodyPr/>
          <a:lstStyle/>
          <a:p>
            <a:fld id="{334D4FF5-5FCB-2945-841A-A3CAF61B538E}" type="slidenum">
              <a:rPr lang="de-DE" smtClean="0"/>
              <a:t>2</a:t>
            </a:fld>
            <a:endParaRPr lang="de-DE" sz="800" dirty="0"/>
          </a:p>
        </p:txBody>
      </p:sp>
      <p:sp>
        <p:nvSpPr>
          <p:cNvPr id="7" name="Rectangle 6">
            <a:extLst>
              <a:ext uri="{FF2B5EF4-FFF2-40B4-BE49-F238E27FC236}">
                <a16:creationId xmlns:a16="http://schemas.microsoft.com/office/drawing/2014/main" id="{9B43C2F7-DF28-4D1C-8554-79B3B6A4E89E}"/>
              </a:ext>
            </a:extLst>
          </p:cNvPr>
          <p:cNvSpPr/>
          <p:nvPr/>
        </p:nvSpPr>
        <p:spPr>
          <a:xfrm>
            <a:off x="11233998" y="6486257"/>
            <a:ext cx="231246" cy="1150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2">
            <a:extLst>
              <a:ext uri="{FF2B5EF4-FFF2-40B4-BE49-F238E27FC236}">
                <a16:creationId xmlns:a16="http://schemas.microsoft.com/office/drawing/2014/main" id="{49082B24-94AF-C4BC-8FC2-20FB5D30925E}"/>
              </a:ext>
            </a:extLst>
          </p:cNvPr>
          <p:cNvSpPr txBox="1">
            <a:spLocks/>
          </p:cNvSpPr>
          <p:nvPr/>
        </p:nvSpPr>
        <p:spPr>
          <a:xfrm>
            <a:off x="448056" y="475488"/>
            <a:ext cx="11539728" cy="768096"/>
          </a:xfrm>
          <a:prstGeom prst="rect">
            <a:avLst/>
          </a:prstGeom>
        </p:spPr>
        <p:txBody>
          <a:bodyPr vert="horz" lIns="91440" tIns="45720" rIns="91440" bIns="45720" rtlCol="0" anchor="b">
            <a:noAutofit/>
          </a:bodyPr>
          <a:lstStyle>
            <a:lvl1pPr marL="10318" marR="0" indent="0" algn="l" defTabSz="742946" rtl="0" eaLnBrk="1" fontAlgn="auto" latinLnBrk="0" hangingPunct="1">
              <a:lnSpc>
                <a:spcPts val="4757"/>
              </a:lnSpc>
              <a:spcBef>
                <a:spcPts val="77"/>
              </a:spcBef>
              <a:spcAft>
                <a:spcPts val="0"/>
              </a:spcAft>
              <a:buClrTx/>
              <a:buSzTx/>
              <a:buFontTx/>
              <a:buNone/>
              <a:tabLst/>
              <a:defRPr kumimoji="0" lang="fr-FR" sz="2439" b="0" i="1" u="none" strike="noStrike" kern="0" cap="none" spc="-19" normalizeH="0" baseline="0">
                <a:ln>
                  <a:noFill/>
                </a:ln>
                <a:solidFill>
                  <a:sysClr val="windowText" lastClr="000000"/>
                </a:solidFill>
                <a:effectLst/>
                <a:uLnTx/>
                <a:uFillTx/>
                <a:latin typeface="Libre Baskerville" panose="02000000000000000000" pitchFamily="2" charset="0"/>
                <a:ea typeface="+mj-ea"/>
                <a:cs typeface="Libre Baskerville" panose="02000000000000000000" pitchFamily="2" charset="0"/>
              </a:defRPr>
            </a:lvl1pPr>
            <a:lvl2pPr marL="557209" indent="-185737" algn="l" defTabSz="742946"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3" indent="-185737" algn="l" defTabSz="742946"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55"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4pPr>
            <a:lvl5pPr marL="1671628"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5pPr>
            <a:lvl6pPr marL="2043102"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6pPr>
            <a:lvl7pPr marL="2414574"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7pPr>
            <a:lvl8pPr marL="2786047"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8pPr>
            <a:lvl9pPr marL="3157519"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9pPr>
          </a:lstStyle>
          <a:p>
            <a:r>
              <a:rPr lang="en-US" sz="3000" dirty="0"/>
              <a:t>Disclaimer</a:t>
            </a:r>
          </a:p>
        </p:txBody>
      </p:sp>
      <p:sp>
        <p:nvSpPr>
          <p:cNvPr id="13" name="Textplatzhalter 12">
            <a:extLst>
              <a:ext uri="{FF2B5EF4-FFF2-40B4-BE49-F238E27FC236}">
                <a16:creationId xmlns:a16="http://schemas.microsoft.com/office/drawing/2014/main" id="{3B7E6D9C-BD1C-7066-E7B0-6DBC0B385E7C}"/>
              </a:ext>
            </a:extLst>
          </p:cNvPr>
          <p:cNvSpPr>
            <a:spLocks noGrp="1"/>
          </p:cNvSpPr>
          <p:nvPr>
            <p:ph type="body" sz="quarter" idx="17"/>
          </p:nvPr>
        </p:nvSpPr>
        <p:spPr>
          <a:xfrm>
            <a:off x="6188965" y="1431979"/>
            <a:ext cx="5520436" cy="4786098"/>
          </a:xfrm>
        </p:spPr>
        <p:txBody>
          <a:bodyPr>
            <a:normAutofit/>
          </a:bodyPr>
          <a:lstStyle/>
          <a:p>
            <a:pPr>
              <a:spcBef>
                <a:spcPts val="600"/>
              </a:spcBef>
            </a:pPr>
            <a:r>
              <a:rPr lang="en-US" sz="1000" b="0" i="0" u="none" strike="noStrike" dirty="0">
                <a:effectLst/>
                <a:latin typeface="+mj-lt"/>
              </a:rPr>
              <a:t>The fund may have been authorized for distribution in different EU member states. Investors are advised to the fact that the management company may decide to withdraw with the arrangements it has made for the distribution of the units of the fund in accordance with Article 93a of Directive 2009/65/EC and Article 32a of Directive 2011/61/</a:t>
            </a:r>
            <a:r>
              <a:rPr lang="en-US" sz="1000" b="0" i="0" u="none" strike="noStrike" dirty="0" err="1">
                <a:effectLst/>
                <a:latin typeface="+mj-lt"/>
              </a:rPr>
              <a:t>EU.The</a:t>
            </a:r>
            <a:r>
              <a:rPr lang="en-US" sz="1000" b="0" i="0" u="none" strike="noStrike" dirty="0">
                <a:effectLst/>
                <a:latin typeface="+mj-lt"/>
              </a:rPr>
              <a:t> complaints handling policy is available on our website am.oddo-bhf.com in the regulatory information section. Customer complaints can be addressed in the first instance to the following e-mail address: service_client@oddo-bhf.com</a:t>
            </a:r>
            <a:r>
              <a:rPr lang="en-US" sz="1000" b="1" i="0" u="none" strike="noStrike" dirty="0">
                <a:effectLst/>
                <a:latin typeface="+mj-lt"/>
              </a:rPr>
              <a:t> (or directly to the Consumer Mediation Service: http://mediationconsommateur.be (ONLY FOR BELGIUM))</a:t>
            </a:r>
          </a:p>
          <a:p>
            <a:pPr>
              <a:spcBef>
                <a:spcPts val="600"/>
              </a:spcBef>
            </a:pPr>
            <a:r>
              <a:rPr lang="en-US" sz="1000" b="0" i="0" u="none" strike="noStrike" dirty="0">
                <a:effectLst/>
                <a:latin typeface="+mj-lt"/>
              </a:rPr>
              <a:t>The Key Information Document (FR, DEU, ENG) and the prospectus (</a:t>
            </a:r>
            <a:r>
              <a:rPr lang="en-US" sz="1000" dirty="0">
                <a:latin typeface="+mj-lt"/>
              </a:rPr>
              <a:t>FR, DEU, ENG)</a:t>
            </a:r>
            <a:r>
              <a:rPr lang="en-US" sz="1000" b="0" i="0" u="none" strike="noStrike" dirty="0">
                <a:effectLst/>
                <a:latin typeface="+mj-lt"/>
              </a:rPr>
              <a:t> are available free of charge from ODDO BHF ASSET MANAGEMENT SAS or at am.oddo-bhf.com or at authorized distributors. The annual and interim reports are available free of charge from ODDO BHF ASSET MANAGEMENT SAS or on its internet site am.oddo-bhf.com</a:t>
            </a:r>
          </a:p>
          <a:p>
            <a:r>
              <a:rPr lang="en-GB" sz="1000" dirty="0">
                <a:highlight>
                  <a:srgbClr val="FFFF00"/>
                </a:highlight>
                <a:latin typeface="+mj-lt"/>
              </a:rPr>
              <a:t>The fund is licensed for sale in Switzerland. The Key Information Document, the prospectus, the annual and interim reports for Switzerland can be obtained free of charge from the Swiss Representative and paying agent, BNP Paribas Securities Services, </a:t>
            </a:r>
            <a:r>
              <a:rPr lang="en-GB" sz="1000" dirty="0" err="1">
                <a:highlight>
                  <a:srgbClr val="FFFF00"/>
                </a:highlight>
                <a:latin typeface="+mj-lt"/>
              </a:rPr>
              <a:t>succursale</a:t>
            </a:r>
            <a:r>
              <a:rPr lang="en-GB" sz="1000" dirty="0">
                <a:highlight>
                  <a:srgbClr val="FFFF00"/>
                </a:highlight>
                <a:latin typeface="+mj-lt"/>
              </a:rPr>
              <a:t> de Zurich, </a:t>
            </a:r>
            <a:r>
              <a:rPr lang="en-GB" sz="1000" dirty="0" err="1">
                <a:highlight>
                  <a:srgbClr val="FFFF00"/>
                </a:highlight>
                <a:latin typeface="+mj-lt"/>
              </a:rPr>
              <a:t>Selnaustrasse</a:t>
            </a:r>
            <a:r>
              <a:rPr lang="en-GB" sz="1000" dirty="0">
                <a:highlight>
                  <a:srgbClr val="FFFF00"/>
                </a:highlight>
                <a:latin typeface="+mj-lt"/>
              </a:rPr>
              <a:t> 16, 8002 Zurich, Switzerland</a:t>
            </a:r>
            <a:endParaRPr lang="en-GB" sz="200" dirty="0">
              <a:solidFill>
                <a:schemeClr val="accent5"/>
              </a:solidFill>
              <a:highlight>
                <a:srgbClr val="FFFF00"/>
              </a:highlight>
              <a:latin typeface="Libre Baskerville" panose="02000000000000000000" pitchFamily="2" charset="0"/>
            </a:endParaRPr>
          </a:p>
          <a:p>
            <a:endParaRPr lang="en-GB" sz="1400" dirty="0">
              <a:solidFill>
                <a:schemeClr val="accent5"/>
              </a:solidFill>
              <a:latin typeface="Libre Baskerville" panose="02000000000000000000" pitchFamily="2" charset="0"/>
            </a:endParaRPr>
          </a:p>
          <a:p>
            <a:r>
              <a:rPr lang="en-GB" sz="2000" dirty="0">
                <a:solidFill>
                  <a:schemeClr val="accent5"/>
                </a:solidFill>
                <a:latin typeface="Libre Baskerville" panose="02000000000000000000" pitchFamily="2" charset="0"/>
              </a:rPr>
              <a:t>Risks</a:t>
            </a:r>
            <a:endParaRPr lang="en-GB" sz="1000" dirty="0">
              <a:solidFill>
                <a:schemeClr val="accent5"/>
              </a:solidFill>
              <a:latin typeface="Libre Baskerville" panose="02000000000000000000" pitchFamily="2" charset="0"/>
            </a:endParaRPr>
          </a:p>
          <a:p>
            <a:r>
              <a:rPr lang="en-GB" sz="1000" dirty="0">
                <a:latin typeface="+mj-lt"/>
              </a:rPr>
              <a:t>Equity risk, secondary market risk, concentration risk, emerging market risk, currency risk, risk related to ETF and non-ETF classes, environmental, social and governance standards, risk related to SFDR classification of sub-funds, selection risk, liquidity of investments, risk related to small and mid caps, political and/or legal/regulatory risk, regulatory restrictions and issuer-specific risk, risk related to the investment strategy, risk related to active management, risks related to the quantitative model</a:t>
            </a:r>
          </a:p>
        </p:txBody>
      </p:sp>
      <p:sp>
        <p:nvSpPr>
          <p:cNvPr id="14" name="Espace réservé du texte 11">
            <a:extLst>
              <a:ext uri="{FF2B5EF4-FFF2-40B4-BE49-F238E27FC236}">
                <a16:creationId xmlns:a16="http://schemas.microsoft.com/office/drawing/2014/main" id="{D401DEBF-A04F-DF1D-B544-A998C7DEB4F0}"/>
              </a:ext>
            </a:extLst>
          </p:cNvPr>
          <p:cNvSpPr txBox="1">
            <a:spLocks noGrp="1"/>
          </p:cNvSpPr>
          <p:nvPr>
            <p:ph type="body" sz="quarter" idx="16"/>
          </p:nvPr>
        </p:nvSpPr>
        <p:spPr>
          <a:xfrm>
            <a:off x="500063" y="1431925"/>
            <a:ext cx="5341937" cy="4786313"/>
          </a:xfrm>
          <a:prstGeom prst="rect">
            <a:avLst/>
          </a:prstGeom>
        </p:spPr>
        <p:txBody>
          <a:bodyPr vert="horz" lIns="91440" tIns="45720" rIns="91440" bIns="45720" rtlCol="0">
            <a:noAutofit/>
          </a:bodyPr>
          <a:lstStyle>
            <a:lvl1pPr marL="0" indent="0" algn="just" defTabSz="914400" rtl="0" eaLnBrk="1" latinLnBrk="0" hangingPunct="1">
              <a:lnSpc>
                <a:spcPct val="100000"/>
              </a:lnSpc>
              <a:spcBef>
                <a:spcPts val="1000"/>
              </a:spcBef>
              <a:buFontTx/>
              <a:buNone/>
              <a:defRPr sz="1050" b="0" i="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US" sz="1000" b="0" i="0" u="none" strike="noStrike" dirty="0">
                <a:effectLst/>
                <a:latin typeface="+mj-lt"/>
              </a:rPr>
              <a:t>ODDO BHF AM is the asset management division of the ODDO BHF Group. It is the common brand of three legally separate asset management companies: ODDO BHF AM SAS (France), ODDO BHF  AM GmbH (Germany) and ODDO BHF  AM Lux (Luxembourg). </a:t>
            </a:r>
            <a:br>
              <a:rPr lang="en-US" sz="1000" b="0" i="0" u="none" strike="noStrike" dirty="0">
                <a:effectLst/>
                <a:latin typeface="+mj-lt"/>
              </a:rPr>
            </a:br>
            <a:r>
              <a:rPr lang="en-US" sz="1000" b="0" i="0" u="none" strike="noStrike" dirty="0">
                <a:effectLst/>
                <a:latin typeface="+mj-lt"/>
              </a:rPr>
              <a:t>This document has been drawn up by ODDO BHF ASSET MANAGEMENT SAS. for market communication. Its communication to any investor is the exclusive responsibility of each distributor or advisor with the exception of Belgium, where this document is intended exclusively for distributors and may not be distributed to non-professional clients.</a:t>
            </a:r>
            <a:endParaRPr lang="en-US" sz="1000" dirty="0">
              <a:latin typeface="+mj-lt"/>
            </a:endParaRPr>
          </a:p>
          <a:p>
            <a:pPr>
              <a:spcBef>
                <a:spcPts val="600"/>
              </a:spcBef>
            </a:pPr>
            <a:r>
              <a:rPr lang="en-US" sz="1000" b="1" i="0" u="none" strike="noStrike" dirty="0">
                <a:effectLst/>
                <a:latin typeface="+mj-lt"/>
              </a:rPr>
              <a:t>Potential investors should consult an investment advisor before subscribing to the fund. The investor is informed that the fund presents a risk of capital loss, but also many risks linked to the financial instruments/strategies in the portfolio. In case of subscription, investors must read the Key Information Document (KID) and the fund’s prospectus in order to acquaint themselves with the detailed nature of any risks incurred and all costs.</a:t>
            </a:r>
            <a:r>
              <a:rPr lang="en-US" sz="1000" b="0" i="0" u="none" strike="noStrike" dirty="0">
                <a:effectLst/>
                <a:latin typeface="+mj-lt"/>
              </a:rPr>
              <a:t> </a:t>
            </a:r>
          </a:p>
          <a:p>
            <a:pPr>
              <a:spcBef>
                <a:spcPts val="600"/>
              </a:spcBef>
            </a:pPr>
            <a:r>
              <a:rPr lang="en-US" sz="1000" b="0" i="0" u="none" strike="noStrike" dirty="0">
                <a:effectLst/>
                <a:latin typeface="+mj-lt"/>
              </a:rPr>
              <a:t>The value of the investment may vary both upwards and downwards and may not be returned in full. The investment must be made in accordance with investors’ investment objectives, their investment horizon and their capacity to deal with the risk arising from the transaction. ODDO BHF ASSET MANAGEMENT SAS cannot be held responsible for any direct or indirect damages resulting from the use of this document or the information contained in it. This information is provided for indicative purposes and may be modified at any moment without prior notice. </a:t>
            </a:r>
            <a:br>
              <a:rPr lang="en-US" sz="1000" b="0" i="0" u="none" strike="noStrike" dirty="0">
                <a:effectLst/>
                <a:latin typeface="+mj-lt"/>
              </a:rPr>
            </a:br>
            <a:r>
              <a:rPr lang="en-US" sz="1000" b="0" i="0" u="none" strike="noStrike" dirty="0">
                <a:effectLst/>
                <a:latin typeface="+mj-lt"/>
              </a:rPr>
              <a:t>Any opinions presented in this document result from our market forecasts on the publication date. They are subject to change according to market conditions and ODDO BHF ASSET MANAGEMENT SAS shall not in any case be held contractually liable for them.</a:t>
            </a:r>
          </a:p>
          <a:p>
            <a:pPr>
              <a:spcBef>
                <a:spcPts val="600"/>
              </a:spcBef>
            </a:pPr>
            <a:r>
              <a:rPr lang="en-US" sz="1000" b="0" i="0" u="none" strike="noStrike" dirty="0">
                <a:effectLst/>
                <a:latin typeface="+mj-lt"/>
              </a:rPr>
              <a:t>The net asset values presented in this document are provided for indicative purposes only. Only the net asset value marked on the transaction statement and the securities account statement is authoritative. Subscriptions and redemptions of mutual funds are processed at an unknown asset value.</a:t>
            </a:r>
          </a:p>
          <a:p>
            <a:pPr algn="l">
              <a:spcBef>
                <a:spcPts val="600"/>
              </a:spcBef>
            </a:pPr>
            <a:r>
              <a:rPr lang="en-US" sz="1000" b="1" i="0" u="none" strike="noStrike" dirty="0">
                <a:effectLst/>
                <a:latin typeface="+mj-lt"/>
              </a:rPr>
              <a:t>A summary of investor rights is available free of charge in electronic form in English language on the website at : </a:t>
            </a:r>
            <a:r>
              <a:rPr lang="en-US" sz="1000" b="1" dirty="0">
                <a:latin typeface="+mj-lt"/>
              </a:rPr>
              <a:t>https://am.oddobhf.com/FRANCE/en/non_professional_investor/infos_reglementaire</a:t>
            </a:r>
          </a:p>
        </p:txBody>
      </p:sp>
    </p:spTree>
    <p:extLst>
      <p:ext uri="{BB962C8B-B14F-4D97-AF65-F5344CB8AC3E}">
        <p14:creationId xmlns:p14="http://schemas.microsoft.com/office/powerpoint/2010/main" val="3032676336"/>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BB495ECE-A99D-46CC-9477-B91B752E8374}"/>
              </a:ext>
            </a:extLst>
          </p:cNvPr>
          <p:cNvSpPr>
            <a:spLocks noGrp="1"/>
          </p:cNvSpPr>
          <p:nvPr>
            <p:ph type="sldNum" sz="quarter" idx="21"/>
          </p:nvPr>
        </p:nvSpPr>
        <p:spPr>
          <a:xfrm>
            <a:off x="10725912" y="6348252"/>
            <a:ext cx="1011936" cy="365125"/>
          </a:xfrm>
        </p:spPr>
        <p:txBody>
          <a:bodyPr/>
          <a:lstStyle/>
          <a:p>
            <a:fld id="{334D4FF5-5FCB-2945-841A-A3CAF61B538E}" type="slidenum">
              <a:rPr lang="de-DE" smtClean="0"/>
              <a:t>3</a:t>
            </a:fld>
            <a:endParaRPr lang="de-DE" dirty="0"/>
          </a:p>
        </p:txBody>
      </p:sp>
      <p:sp>
        <p:nvSpPr>
          <p:cNvPr id="6" name="Espace réservé du texte 5">
            <a:extLst>
              <a:ext uri="{FF2B5EF4-FFF2-40B4-BE49-F238E27FC236}">
                <a16:creationId xmlns:a16="http://schemas.microsoft.com/office/drawing/2014/main" id="{D2D6D917-E44A-419C-9431-90F21A1DEBC5}"/>
              </a:ext>
            </a:extLst>
          </p:cNvPr>
          <p:cNvSpPr>
            <a:spLocks noGrp="1"/>
          </p:cNvSpPr>
          <p:nvPr>
            <p:ph type="body" sz="quarter" idx="24"/>
          </p:nvPr>
        </p:nvSpPr>
        <p:spPr>
          <a:xfrm>
            <a:off x="502920" y="5234115"/>
            <a:ext cx="11210544" cy="1245425"/>
          </a:xfrm>
        </p:spPr>
        <p:txBody>
          <a:bodyPr lIns="82296" tIns="45720" rIns="82296" bIns="45720" anchor="b" anchorCtr="0">
            <a:noAutofit/>
          </a:bodyPr>
          <a:lstStyle/>
          <a:p>
            <a:pPr algn="just"/>
            <a:r>
              <a:rPr lang="de-DE" dirty="0"/>
              <a:t>Data </a:t>
            </a:r>
            <a:r>
              <a:rPr lang="de-DE" dirty="0" err="1"/>
              <a:t>as</a:t>
            </a:r>
            <a:r>
              <a:rPr lang="de-DE" dirty="0"/>
              <a:t> </a:t>
            </a:r>
            <a:r>
              <a:rPr lang="de-DE" dirty="0" err="1"/>
              <a:t>of</a:t>
            </a:r>
            <a:r>
              <a:rPr lang="de-DE" dirty="0"/>
              <a:t> 31/08/2025 | Source: ODDO BHF AM, </a:t>
            </a:r>
            <a:r>
              <a:rPr lang="de-DE" baseline="30000" dirty="0"/>
              <a:t>1</a:t>
            </a:r>
            <a:r>
              <a:rPr lang="de-DE" dirty="0"/>
              <a:t> </a:t>
            </a:r>
            <a:r>
              <a:rPr lang="en-US" dirty="0"/>
              <a:t>The EU Sustainable Finance Disclosure Regulation (SFDR) is a set of EU rules which aim to make the sustainability profile of funds transparent, more comparable and better understood by end investors. Article 6: The management team does not consider sustainability risks or adverse effects of investment decisions on sustainability factors in the investment decision making process. Article 8: The management team addresses sustainability risks by integrating ESG criteria (Environment and/or Social and/or Governance) into its investment decision making process. Article 9: The management team follows a strict sustainable investment objective that significantly contributes to the challenges of the ecological transition, and addresses Sustainability Risks through ratings provided by the Management Company’s external ESG data provider. | </a:t>
            </a:r>
            <a:r>
              <a:rPr lang="en-US" baseline="30000" dirty="0"/>
              <a:t>2</a:t>
            </a:r>
            <a:r>
              <a:rPr lang="en-US" dirty="0"/>
              <a:t> The summary risk indicator (SRI) is a guide to the level of risk of this product compared to other products. It shows how likely it is that the product will lose money because of movements in the markets or because we are not able to pay you. It scales in a range from 1 (lowest risk) to 7 (highest risk). The lowest category does not mean a risk-free investment. This indicator is not constant and is updated if the risk profile of the fund changes over time. Historical data, such as is used to calculate the risk indicator, may not be a reliable indication of the future risk profile of the Fund. There is no guarantee that the management objectives in terms of risk will actually be met. The risk indicator assumes you keep the product until the end of the recommended holding period. The actual risk can vary ! significantly if you cash in at an early stage and you may get back less.</a:t>
            </a:r>
          </a:p>
        </p:txBody>
      </p:sp>
      <p:graphicFrame>
        <p:nvGraphicFramePr>
          <p:cNvPr id="8" name="Tableau 80">
            <a:extLst>
              <a:ext uri="{FF2B5EF4-FFF2-40B4-BE49-F238E27FC236}">
                <a16:creationId xmlns:a16="http://schemas.microsoft.com/office/drawing/2014/main" id="{DF1B8177-0580-4C27-A5EA-BC626BF0B1B8}"/>
              </a:ext>
            </a:extLst>
          </p:cNvPr>
          <p:cNvGraphicFramePr>
            <a:graphicFrameLocks/>
          </p:cNvGraphicFramePr>
          <p:nvPr>
            <p:extLst>
              <p:ext uri="{D42A27DB-BD31-4B8C-83A1-F6EECF244321}">
                <p14:modId xmlns:p14="http://schemas.microsoft.com/office/powerpoint/2010/main" val="824161422"/>
              </p:ext>
            </p:extLst>
          </p:nvPr>
        </p:nvGraphicFramePr>
        <p:xfrm>
          <a:off x="594360" y="2078792"/>
          <a:ext cx="11018522" cy="1245425"/>
        </p:xfrm>
        <a:graphic>
          <a:graphicData uri="http://schemas.openxmlformats.org/drawingml/2006/table">
            <a:tbl>
              <a:tblPr firstRow="1" bandRow="1">
                <a:tableStyleId>{2D5ABB26-0587-4C30-8999-92F81FD0307C}</a:tableStyleId>
              </a:tblPr>
              <a:tblGrid>
                <a:gridCol w="3632918">
                  <a:extLst>
                    <a:ext uri="{9D8B030D-6E8A-4147-A177-3AD203B41FA5}">
                      <a16:colId xmlns:a16="http://schemas.microsoft.com/office/drawing/2014/main" val="416387927"/>
                    </a:ext>
                  </a:extLst>
                </a:gridCol>
                <a:gridCol w="1846401">
                  <a:extLst>
                    <a:ext uri="{9D8B030D-6E8A-4147-A177-3AD203B41FA5}">
                      <a16:colId xmlns:a16="http://schemas.microsoft.com/office/drawing/2014/main" val="189107541"/>
                    </a:ext>
                  </a:extLst>
                </a:gridCol>
                <a:gridCol w="1846401">
                  <a:extLst>
                    <a:ext uri="{9D8B030D-6E8A-4147-A177-3AD203B41FA5}">
                      <a16:colId xmlns:a16="http://schemas.microsoft.com/office/drawing/2014/main" val="2515072104"/>
                    </a:ext>
                  </a:extLst>
                </a:gridCol>
                <a:gridCol w="1846401">
                  <a:extLst>
                    <a:ext uri="{9D8B030D-6E8A-4147-A177-3AD203B41FA5}">
                      <a16:colId xmlns:a16="http://schemas.microsoft.com/office/drawing/2014/main" val="2427027317"/>
                    </a:ext>
                  </a:extLst>
                </a:gridCol>
                <a:gridCol w="1846401">
                  <a:extLst>
                    <a:ext uri="{9D8B030D-6E8A-4147-A177-3AD203B41FA5}">
                      <a16:colId xmlns:a16="http://schemas.microsoft.com/office/drawing/2014/main" val="3478727077"/>
                    </a:ext>
                  </a:extLst>
                </a:gridCol>
              </a:tblGrid>
              <a:tr h="529994">
                <a:tc>
                  <a:txBody>
                    <a:bodyPr/>
                    <a:lstStyle/>
                    <a:p>
                      <a:pPr algn="l"/>
                      <a:endParaRPr lang="en-US" sz="1100" b="0" cap="none" baseline="0" noProof="0" dirty="0">
                        <a:solidFill>
                          <a:schemeClr val="accent6"/>
                        </a:solidFill>
                        <a:latin typeface="Lato" panose="020F0502020204030203" pitchFamily="34" charset="0"/>
                        <a:ea typeface="Lato" panose="020F0502020204030203" pitchFamily="34" charset="0"/>
                        <a:cs typeface="Lato" panose="020F0502020204030203" pitchFamily="34" charset="0"/>
                      </a:endParaRPr>
                    </a:p>
                  </a:txBody>
                  <a:tcPr marR="164592" anchor="ctr">
                    <a:lnB>
                      <a:noFill/>
                    </a:lnB>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kern="1200" cap="none" baseline="0" noProof="0" dirty="0">
                          <a:solidFill>
                            <a:schemeClr val="bg1"/>
                          </a:solidFill>
                          <a:latin typeface="+mn-lt"/>
                          <a:ea typeface="+mn-ea"/>
                          <a:cs typeface="+mn-cs"/>
                        </a:rPr>
                        <a:t>Inception date</a:t>
                      </a:r>
                    </a:p>
                  </a:txBody>
                  <a:tcPr marR="164592" anchor="ctr">
                    <a:lnB>
                      <a:noFill/>
                    </a:lnB>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kern="1200" cap="none" baseline="0" noProof="0" dirty="0">
                          <a:solidFill>
                            <a:schemeClr val="bg1"/>
                          </a:solidFill>
                          <a:latin typeface="+mn-lt"/>
                          <a:ea typeface="+mn-ea"/>
                          <a:cs typeface="+mn-cs"/>
                        </a:rPr>
                        <a:t>Fund size</a:t>
                      </a:r>
                    </a:p>
                  </a:txBody>
                  <a:tcPr marR="164592" anchor="ctr">
                    <a:lnB>
                      <a:noFill/>
                    </a:lnB>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kern="1200" cap="none" baseline="0" noProof="0" dirty="0">
                          <a:solidFill>
                            <a:schemeClr val="bg1"/>
                          </a:solidFill>
                          <a:latin typeface="+mn-lt"/>
                          <a:ea typeface="+mn-ea"/>
                          <a:cs typeface="+mn-cs"/>
                        </a:rPr>
                        <a:t>SFDR classification</a:t>
                      </a:r>
                      <a:r>
                        <a:rPr lang="en-US" sz="1200" b="0" kern="1200" cap="none" baseline="30000" noProof="0" dirty="0">
                          <a:solidFill>
                            <a:schemeClr val="bg1"/>
                          </a:solidFill>
                          <a:latin typeface="+mn-lt"/>
                          <a:ea typeface="+mn-ea"/>
                          <a:cs typeface="+mn-cs"/>
                        </a:rPr>
                        <a:t>1</a:t>
                      </a:r>
                    </a:p>
                  </a:txBody>
                  <a:tcPr marR="164592" anchor="ctr">
                    <a:lnB>
                      <a:noFill/>
                    </a:lnB>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cap="none" baseline="0" noProof="0" dirty="0">
                          <a:solidFill>
                            <a:schemeClr val="bg1"/>
                          </a:solidFill>
                        </a:rPr>
                        <a:t>Risk scale</a:t>
                      </a:r>
                      <a:r>
                        <a:rPr lang="en-US" sz="1200" b="0" cap="none" baseline="30000" noProof="0" dirty="0">
                          <a:solidFill>
                            <a:schemeClr val="bg1"/>
                          </a:solidFill>
                        </a:rPr>
                        <a:t>2</a:t>
                      </a:r>
                      <a:endParaRPr lang="en-US" sz="1200" b="0" cap="none" baseline="30000" noProof="0" dirty="0">
                        <a:solidFill>
                          <a:schemeClr val="bg1"/>
                        </a:solidFill>
                        <a:latin typeface="Lato" panose="020F0502020204030203" pitchFamily="34" charset="0"/>
                        <a:ea typeface="Lato" panose="020F0502020204030203" pitchFamily="34" charset="0"/>
                        <a:cs typeface="Lato" panose="020F0502020204030203" pitchFamily="34" charset="0"/>
                      </a:endParaRPr>
                    </a:p>
                  </a:txBody>
                  <a:tcPr marR="164592" anchor="ctr">
                    <a:lnB>
                      <a:noFill/>
                    </a:lnB>
                    <a:solidFill>
                      <a:schemeClr val="accent4"/>
                    </a:solidFill>
                  </a:tcPr>
                </a:tc>
                <a:extLst>
                  <a:ext uri="{0D108BD9-81ED-4DB2-BD59-A6C34878D82A}">
                    <a16:rowId xmlns:a16="http://schemas.microsoft.com/office/drawing/2014/main" val="2923169000"/>
                  </a:ext>
                </a:extLst>
              </a:tr>
              <a:tr h="715431">
                <a:tc>
                  <a:txBody>
                    <a:bodyPr/>
                    <a:lstStyle/>
                    <a:p>
                      <a:pPr marL="0" indent="0">
                        <a:buNone/>
                      </a:pPr>
                      <a:r>
                        <a:rPr lang="en-GB" sz="1200" dirty="0">
                          <a:solidFill>
                            <a:schemeClr val="accent6"/>
                          </a:solidFill>
                        </a:rPr>
                        <a:t>ODDO BHF US Equity Active UCITS ETF </a:t>
                      </a:r>
                    </a:p>
                  </a:txBody>
                  <a:tcPr marR="164592"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cap="none" baseline="0" noProof="0" dirty="0">
                          <a:highlight>
                            <a:srgbClr val="FFFF00"/>
                          </a:highlight>
                          <a:latin typeface="Lato" panose="020F0502020204030203" pitchFamily="34" charset="0"/>
                          <a:ea typeface="Lato" panose="020F0502020204030203" pitchFamily="34" charset="0"/>
                          <a:cs typeface="Lato" panose="020F0502020204030203" pitchFamily="34" charset="0"/>
                        </a:rPr>
                        <a:t>XX/08/2025</a:t>
                      </a:r>
                    </a:p>
                  </a:txBody>
                  <a:tcPr marR="164592"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cap="none" noProof="0" dirty="0">
                          <a:highlight>
                            <a:srgbClr val="FFFF00"/>
                          </a:highlight>
                          <a:latin typeface="Lato" panose="020F0502020204030203" pitchFamily="34" charset="0"/>
                          <a:ea typeface="Lato" panose="020F0502020204030203" pitchFamily="34" charset="0"/>
                          <a:cs typeface="Lato" panose="020F0502020204030203" pitchFamily="34" charset="0"/>
                        </a:rPr>
                        <a:t>5 M€</a:t>
                      </a:r>
                    </a:p>
                  </a:txBody>
                  <a:tcPr marR="164592"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cap="none" noProof="0" dirty="0">
                        <a:highlight>
                          <a:srgbClr val="FFFF00"/>
                        </a:highlight>
                        <a:latin typeface="Lato" panose="020F0502020204030203" pitchFamily="34" charset="0"/>
                        <a:ea typeface="Lato" panose="020F0502020204030203" pitchFamily="34" charset="0"/>
                        <a:cs typeface="Lato" panose="020F0502020204030203" pitchFamily="34" charset="0"/>
                      </a:endParaRPr>
                    </a:p>
                  </a:txBody>
                  <a:tcPr marR="164592"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cap="none" noProof="0" dirty="0">
                        <a:highlight>
                          <a:srgbClr val="FFFF00"/>
                        </a:highlight>
                        <a:latin typeface="Lato" panose="020F0502020204030203" pitchFamily="34" charset="0"/>
                        <a:ea typeface="Lato" panose="020F0502020204030203" pitchFamily="34" charset="0"/>
                        <a:cs typeface="Lato" panose="020F0502020204030203" pitchFamily="34" charset="0"/>
                      </a:endParaRPr>
                    </a:p>
                  </a:txBody>
                  <a:tcPr marR="164592"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96619403"/>
                  </a:ext>
                </a:extLst>
              </a:tr>
            </a:tbl>
          </a:graphicData>
        </a:graphic>
      </p:graphicFrame>
      <p:graphicFrame>
        <p:nvGraphicFramePr>
          <p:cNvPr id="9" name="Tableau 37">
            <a:extLst>
              <a:ext uri="{FF2B5EF4-FFF2-40B4-BE49-F238E27FC236}">
                <a16:creationId xmlns:a16="http://schemas.microsoft.com/office/drawing/2014/main" id="{8A6B7F18-B8F2-4187-BF98-60BDB022A41B}"/>
              </a:ext>
            </a:extLst>
          </p:cNvPr>
          <p:cNvGraphicFramePr>
            <a:graphicFrameLocks noGrp="1"/>
          </p:cNvGraphicFramePr>
          <p:nvPr>
            <p:extLst>
              <p:ext uri="{D42A27DB-BD31-4B8C-83A1-F6EECF244321}">
                <p14:modId xmlns:p14="http://schemas.microsoft.com/office/powerpoint/2010/main" val="2642966541"/>
              </p:ext>
            </p:extLst>
          </p:nvPr>
        </p:nvGraphicFramePr>
        <p:xfrm>
          <a:off x="7996740" y="2864985"/>
          <a:ext cx="1543050" cy="228600"/>
        </p:xfrm>
        <a:graphic>
          <a:graphicData uri="http://schemas.openxmlformats.org/drawingml/2006/table">
            <a:tbl>
              <a:tblPr firstRow="1" bandRow="1">
                <a:tableStyleId>{2D5ABB26-0587-4C30-8999-92F81FD0307C}</a:tableStyleId>
              </a:tblPr>
              <a:tblGrid>
                <a:gridCol w="514350">
                  <a:extLst>
                    <a:ext uri="{9D8B030D-6E8A-4147-A177-3AD203B41FA5}">
                      <a16:colId xmlns:a16="http://schemas.microsoft.com/office/drawing/2014/main" val="908179641"/>
                    </a:ext>
                  </a:extLst>
                </a:gridCol>
                <a:gridCol w="514350">
                  <a:extLst>
                    <a:ext uri="{9D8B030D-6E8A-4147-A177-3AD203B41FA5}">
                      <a16:colId xmlns:a16="http://schemas.microsoft.com/office/drawing/2014/main" val="1421907990"/>
                    </a:ext>
                  </a:extLst>
                </a:gridCol>
                <a:gridCol w="514350">
                  <a:extLst>
                    <a:ext uri="{9D8B030D-6E8A-4147-A177-3AD203B41FA5}">
                      <a16:colId xmlns:a16="http://schemas.microsoft.com/office/drawing/2014/main" val="2290313632"/>
                    </a:ext>
                  </a:extLst>
                </a:gridCol>
              </a:tblGrid>
              <a:tr h="0">
                <a:tc>
                  <a:txBody>
                    <a:bodyPr/>
                    <a:lstStyle/>
                    <a:p>
                      <a:pPr algn="ctr"/>
                      <a:r>
                        <a:rPr lang="fr-FR" sz="900" dirty="0">
                          <a:solidFill>
                            <a:schemeClr val="tx1"/>
                          </a:solidFill>
                        </a:rPr>
                        <a:t>6</a:t>
                      </a:r>
                      <a:endParaRPr lang="fr-FR" sz="900" dirty="0">
                        <a:solidFill>
                          <a:schemeClr val="tx1"/>
                        </a:solidFill>
                        <a:latin typeface="Lato" panose="020F0502020204030203" pitchFamily="34" charset="0"/>
                      </a:endParaRPr>
                    </a:p>
                  </a:txBody>
                  <a:tcPr>
                    <a:lnL w="9525" cap="flat" cmpd="sng" algn="ctr">
                      <a:noFill/>
                      <a:prstDash val="solid"/>
                      <a:round/>
                      <a:headEnd type="none" w="med" len="med"/>
                      <a:tailEnd type="none" w="med" len="med"/>
                    </a:lnL>
                    <a:lnR>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fr-FR" sz="900" dirty="0">
                          <a:solidFill>
                            <a:schemeClr val="bg1"/>
                          </a:solidFill>
                        </a:rPr>
                        <a:t>8</a:t>
                      </a:r>
                      <a:endParaRPr lang="fr-FR" sz="900" dirty="0">
                        <a:solidFill>
                          <a:schemeClr val="bg1"/>
                        </a:solidFill>
                        <a:latin typeface="Lato" panose="020F0502020204030203" pitchFamily="34" charset="0"/>
                      </a:endParaRPr>
                    </a:p>
                  </a:txBody>
                  <a:tcPr>
                    <a:lnL>
                      <a:noFill/>
                    </a:lnL>
                    <a:lnR>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fr-FR" sz="900" dirty="0"/>
                        <a:t>9</a:t>
                      </a:r>
                      <a:endParaRPr lang="fr-FR" sz="900" dirty="0">
                        <a:latin typeface="Lato" panose="020F0502020204030203" pitchFamily="34" charset="0"/>
                      </a:endParaRPr>
                    </a:p>
                  </a:txBody>
                  <a:tcPr>
                    <a:lnL>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25792200"/>
                  </a:ext>
                </a:extLst>
              </a:tr>
            </a:tbl>
          </a:graphicData>
        </a:graphic>
      </p:graphicFrame>
      <p:sp>
        <p:nvSpPr>
          <p:cNvPr id="16" name="ZoneTexte 15">
            <a:extLst>
              <a:ext uri="{FF2B5EF4-FFF2-40B4-BE49-F238E27FC236}">
                <a16:creationId xmlns:a16="http://schemas.microsoft.com/office/drawing/2014/main" id="{A7989613-607C-478A-B890-975662DE8E8D}"/>
              </a:ext>
            </a:extLst>
          </p:cNvPr>
          <p:cNvSpPr txBox="1"/>
          <p:nvPr/>
        </p:nvSpPr>
        <p:spPr>
          <a:xfrm>
            <a:off x="10848903" y="2865240"/>
            <a:ext cx="396541" cy="230832"/>
          </a:xfrm>
          <a:prstGeom prst="rect">
            <a:avLst/>
          </a:prstGeom>
          <a:noFill/>
        </p:spPr>
        <p:txBody>
          <a:bodyPr wrap="square" rtlCol="0">
            <a:spAutoFit/>
          </a:bodyPr>
          <a:lstStyle/>
          <a:p>
            <a:r>
              <a:rPr lang="de-DE" sz="900" dirty="0"/>
              <a:t>4/7</a:t>
            </a:r>
          </a:p>
        </p:txBody>
      </p:sp>
      <p:sp>
        <p:nvSpPr>
          <p:cNvPr id="24" name="Rectangle 23">
            <a:extLst>
              <a:ext uri="{FF2B5EF4-FFF2-40B4-BE49-F238E27FC236}">
                <a16:creationId xmlns:a16="http://schemas.microsoft.com/office/drawing/2014/main" id="{523A582E-CD70-4786-8CBB-C8C5703CDB33}"/>
              </a:ext>
            </a:extLst>
          </p:cNvPr>
          <p:cNvSpPr/>
          <p:nvPr/>
        </p:nvSpPr>
        <p:spPr>
          <a:xfrm>
            <a:off x="11785690" y="4674198"/>
            <a:ext cx="253910" cy="18061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nvGrpSpPr>
          <p:cNvPr id="10" name="Groupe 12">
            <a:extLst>
              <a:ext uri="{FF2B5EF4-FFF2-40B4-BE49-F238E27FC236}">
                <a16:creationId xmlns:a16="http://schemas.microsoft.com/office/drawing/2014/main" id="{662EA00E-3F0D-DE8F-D7FD-5A296CCE25C2}"/>
              </a:ext>
            </a:extLst>
          </p:cNvPr>
          <p:cNvGrpSpPr/>
          <p:nvPr/>
        </p:nvGrpSpPr>
        <p:grpSpPr>
          <a:xfrm>
            <a:off x="10153440" y="2876041"/>
            <a:ext cx="726916" cy="212576"/>
            <a:chOff x="10104192" y="2687804"/>
            <a:chExt cx="726916" cy="212576"/>
          </a:xfrm>
        </p:grpSpPr>
        <p:sp>
          <p:nvSpPr>
            <p:cNvPr id="11" name="Rectangle : coins arrondis 13">
              <a:extLst>
                <a:ext uri="{FF2B5EF4-FFF2-40B4-BE49-F238E27FC236}">
                  <a16:creationId xmlns:a16="http://schemas.microsoft.com/office/drawing/2014/main" id="{B0C0A103-F8CF-6B77-3B97-3330DA815E96}"/>
                </a:ext>
              </a:extLst>
            </p:cNvPr>
            <p:cNvSpPr/>
            <p:nvPr/>
          </p:nvSpPr>
          <p:spPr>
            <a:xfrm>
              <a:off x="10111336" y="2690830"/>
              <a:ext cx="540000" cy="209550"/>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2" name="Rectangle : coins arrondis 14">
              <a:extLst>
                <a:ext uri="{FF2B5EF4-FFF2-40B4-BE49-F238E27FC236}">
                  <a16:creationId xmlns:a16="http://schemas.microsoft.com/office/drawing/2014/main" id="{7C718FE2-8BBE-A98A-D899-771954DB02DC}"/>
                </a:ext>
              </a:extLst>
            </p:cNvPr>
            <p:cNvSpPr/>
            <p:nvPr/>
          </p:nvSpPr>
          <p:spPr>
            <a:xfrm>
              <a:off x="10104192" y="2687804"/>
              <a:ext cx="726916" cy="209550"/>
            </a:xfrm>
            <a:prstGeom prst="roundRect">
              <a:avLst>
                <a:gd name="adj" fmla="val 50000"/>
              </a:avLst>
            </a:prstGeom>
            <a:noFill/>
            <a:ln>
              <a:solidFill>
                <a:srgbClr val="E1DB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sp>
        <p:nvSpPr>
          <p:cNvPr id="3" name="Rectangle 2">
            <a:extLst>
              <a:ext uri="{FF2B5EF4-FFF2-40B4-BE49-F238E27FC236}">
                <a16:creationId xmlns:a16="http://schemas.microsoft.com/office/drawing/2014/main" id="{64D165FE-3C9A-A3D0-EFE1-5457F44FC110}"/>
              </a:ext>
            </a:extLst>
          </p:cNvPr>
          <p:cNvSpPr/>
          <p:nvPr/>
        </p:nvSpPr>
        <p:spPr>
          <a:xfrm>
            <a:off x="11233998" y="6486257"/>
            <a:ext cx="231246" cy="1150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Espace réservé du texte 1">
            <a:extLst>
              <a:ext uri="{FF2B5EF4-FFF2-40B4-BE49-F238E27FC236}">
                <a16:creationId xmlns:a16="http://schemas.microsoft.com/office/drawing/2014/main" id="{5CF3E550-686F-949F-992F-6B46E08F4411}"/>
              </a:ext>
            </a:extLst>
          </p:cNvPr>
          <p:cNvSpPr>
            <a:spLocks noGrp="1"/>
          </p:cNvSpPr>
          <p:nvPr>
            <p:ph type="body" sz="quarter" idx="13"/>
          </p:nvPr>
        </p:nvSpPr>
        <p:spPr>
          <a:xfrm>
            <a:off x="448056" y="473136"/>
            <a:ext cx="11723231" cy="767187"/>
          </a:xfrm>
        </p:spPr>
        <p:txBody>
          <a:bodyPr/>
          <a:lstStyle/>
          <a:p>
            <a:r>
              <a:rPr lang="de-DE" dirty="0" err="1"/>
              <a:t>Product</a:t>
            </a:r>
            <a:endParaRPr lang="de-DE" dirty="0"/>
          </a:p>
        </p:txBody>
      </p:sp>
    </p:spTree>
    <p:extLst>
      <p:ext uri="{BB962C8B-B14F-4D97-AF65-F5344CB8AC3E}">
        <p14:creationId xmlns:p14="http://schemas.microsoft.com/office/powerpoint/2010/main" val="93363244"/>
      </p:ext>
    </p:extLst>
  </p:cSld>
  <p:clrMapOvr>
    <a:masterClrMapping/>
  </p:clrMapOvr>
</p:sld>
</file>

<file path=ppt/theme/theme1.xml><?xml version="1.0" encoding="utf-8"?>
<a:theme xmlns:a="http://schemas.openxmlformats.org/drawingml/2006/main" name="masque ODDO BHF 2709">
  <a:themeElements>
    <a:clrScheme name="ODDO">
      <a:dk1>
        <a:srgbClr val="000000"/>
      </a:dk1>
      <a:lt1>
        <a:srgbClr val="FFFFFF"/>
      </a:lt1>
      <a:dk2>
        <a:srgbClr val="272428"/>
      </a:dk2>
      <a:lt2>
        <a:srgbClr val="F7F2EE"/>
      </a:lt2>
      <a:accent1>
        <a:srgbClr val="55A185"/>
      </a:accent1>
      <a:accent2>
        <a:srgbClr val="B3CEB3"/>
      </a:accent2>
      <a:accent3>
        <a:srgbClr val="88A682"/>
      </a:accent3>
      <a:accent4>
        <a:srgbClr val="2E5144"/>
      </a:accent4>
      <a:accent5>
        <a:srgbClr val="EA4334"/>
      </a:accent5>
      <a:accent6>
        <a:srgbClr val="003C3C"/>
      </a:accent6>
      <a:hlink>
        <a:srgbClr val="EA4334"/>
      </a:hlink>
      <a:folHlink>
        <a:srgbClr val="003C3C"/>
      </a:folHlink>
    </a:clrScheme>
    <a:fontScheme name="Personnalisé 1">
      <a:majorFont>
        <a:latin typeface="Lato Light"/>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20672c2-139f-4272-9c6a-802ad8322278}" enabled="1" method="Privileged" siteId="{ca609612-2669-4884-a6bb-941f48aa5153}" removed="0"/>
</clbl:labelList>
</file>

<file path=docProps/app.xml><?xml version="1.0" encoding="utf-8"?>
<Properties xmlns="http://schemas.openxmlformats.org/officeDocument/2006/extended-properties" xmlns:vt="http://schemas.openxmlformats.org/officeDocument/2006/docPropsVTypes">
  <Template/>
  <TotalTime>0</TotalTime>
  <Words>1125</Words>
  <Application>Microsoft Office PowerPoint</Application>
  <PresentationFormat>Widescreen</PresentationFormat>
  <Paragraphs>32</Paragraphs>
  <Slides>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vt:i4>
      </vt:variant>
    </vt:vector>
  </HeadingPairs>
  <TitlesOfParts>
    <vt:vector size="12" baseType="lpstr">
      <vt:lpstr>Arial</vt:lpstr>
      <vt:lpstr>Calibri</vt:lpstr>
      <vt:lpstr>Lato</vt:lpstr>
      <vt:lpstr>Lato Heavy</vt:lpstr>
      <vt:lpstr>Lato Light</vt:lpstr>
      <vt:lpstr>Lato-Heavy</vt:lpstr>
      <vt:lpstr>Lato-Light</vt:lpstr>
      <vt:lpstr>Libre Baskerville</vt:lpstr>
      <vt:lpstr>masque ODDO BHF 2709</vt:lpstr>
      <vt:lpstr>An investment solution aiming at investing efficiently in US equities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a.salvador@wanadoo.fr</dc:creator>
  <cp:keywords>, docId:034FFC5AA97C185ADF6AF358B54137A0</cp:keywords>
  <cp:lastModifiedBy>Youssef CHIRCHI</cp:lastModifiedBy>
  <cp:revision>1004</cp:revision>
  <dcterms:created xsi:type="dcterms:W3CDTF">2021-07-08T09:12:32Z</dcterms:created>
  <dcterms:modified xsi:type="dcterms:W3CDTF">2025-12-17T16:08:36Z</dcterms:modified>
</cp:coreProperties>
</file>